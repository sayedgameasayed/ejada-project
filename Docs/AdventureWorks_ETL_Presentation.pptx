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2292-210A-22C6-D3BD-1FF5071F0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4A99F-17DC-F3F4-4217-42A273688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34EBF-BC79-CEC9-6434-03CE2052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158A-E68C-8B2B-6E89-C533AD9E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91DA-7406-86D1-F3E2-1FFD9BCE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7A9A-3331-8887-BD9D-163BAB5C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C16D-AA79-CEEE-F3EA-76CC8FC9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71F5-F0C7-E53C-CF7D-85F06D67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DFA8-1756-E78D-55DD-2FB84321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CC861-22B6-ED9B-E225-5BC4B977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6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2320-9F5C-2C1F-00FF-C6B1FE8C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D926E-9781-D4DC-5AE2-7029694B5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1796-3DBF-45C1-7EC6-A5D908D5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68F4A-E0F5-6955-58C0-7CA1A95E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A716-8AD7-D83D-D3AD-531E7113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0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B601-B9AE-1F18-28E1-6BD5708A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63FA-B229-74C8-7103-E508C8403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23DA2-8A6E-8BF5-BEF2-00413897E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87EEF-16D6-E34B-4BC6-8BC5E77A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A9B7D-4CAD-77F0-6DD5-693D5357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C9711-1FAE-554A-F092-66F498AA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6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C26A-D250-5E5F-5EB3-FBCFB66B8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8107F-3F2F-EDF9-2587-9046EF056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1BC83-C662-3D28-6C83-866BB5A94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906E5-CA5F-38DE-2243-E1A66106B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31FF3B-AAAA-464B-B8E6-C79318FC0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202D9-7FD3-FD76-D6AC-61B83B06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A36D3-A781-34AF-1774-9B42CDF4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E01F3-7443-D5AE-9DFF-A24E6848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2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94C2-0BA1-BD90-41F7-2BEF931B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6B2C9-8D63-FF08-AE01-04E2F841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33073-7E84-2A41-891E-672FC9DF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5A5F2-924B-0C8E-A208-EFA3BA93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0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F11C5-75A7-03E8-D3CB-CEAEA8F46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52F66-7FA1-81DB-6099-AA06C0EC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4BE7B-307A-07E7-3454-57CEB28E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9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5445-165B-BF88-05F8-48B7FE9E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2958-3031-635B-D610-ABD3D6585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8D114-F9E0-8C84-F84B-FBFEF301B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CC306-2254-03D2-B786-DD932BF0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46074-C178-75DF-2BDF-54C03372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A08D9-E0B0-3A81-A82C-FB3882D1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3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C7C9-5B01-B7AD-E415-FD52AE0B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D5064-7321-8BAD-0F76-CB97B8F83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C0097-1947-6E84-A246-9BE48FB2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18794-80B3-D810-2C80-77716CB9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8C38-84ED-4D77-A7B8-7E697AA8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37C15-57E2-F8AF-D0A0-745BE11A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8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BEF4-59F6-37A6-B23F-2F91D57A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4E877-0EAA-733F-5180-F53E9FBFA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8F267-54C8-E403-7D8D-C0B7A868E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5D561-28DF-B1B2-2166-2E8DDEB88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0CC4-3007-DB6E-0F15-04644B29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0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DD5EF-3EF8-8BCF-D88C-EA88462F02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866F8-A0F0-1AFE-F333-58E0BAFEC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B2CEF-DBA1-B52F-1D1E-33A3D2AD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4B09-6291-221E-8A38-8C06312F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34B3-F396-89A6-D941-DEEE6C0F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3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69113-E781-E006-798A-167F87008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FF36A-4276-A92C-8E6B-9F4A7E33A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08B6F-7E09-BB2F-9A3E-BBB205FE1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867BF-27E9-4E78-B03E-D1C72F0D04A0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8A49B-087A-DAF5-2FA7-2A2F2F67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9025C-F8C0-BFE2-F9BC-01C9D9CD7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209FF-819D-43A2-97A4-6C4DDC35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5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E1FE8C-E6B3-5EE1-D2E4-DBDDCE97E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1EA2D-CBC4-D536-6B82-51411EA896D2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AF8F7-083A-6A49-DEDA-2A9A5EB894A0}"/>
              </a:ext>
            </a:extLst>
          </p:cNvPr>
          <p:cNvSpPr txBox="1"/>
          <p:nvPr/>
        </p:nvSpPr>
        <p:spPr>
          <a:xfrm>
            <a:off x="762000" y="1905000"/>
            <a:ext cx="1066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Calibri" panose="020F0502020204030204" pitchFamily="34" charset="0"/>
              </a:rPr>
              <a:t>AdventureWorks ETL to Data Warehouse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B290C-1247-BA3B-0608-78EA77390001}"/>
              </a:ext>
            </a:extLst>
          </p:cNvPr>
          <p:cNvSpPr txBox="1"/>
          <p:nvPr/>
        </p:nvSpPr>
        <p:spPr>
          <a:xfrm>
            <a:off x="762000" y="3175000"/>
            <a:ext cx="1066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BECDEB"/>
                </a:solidFill>
                <a:latin typeface="Calibri" panose="020F0502020204030204" pitchFamily="34" charset="0"/>
              </a:rPr>
              <a:t>SSIS Daily ETL Pipeline: OLTP  -&gt;  Staging  -&gt;  Star-Schema DW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04187-16C4-E569-60E8-7017B13C14DA}"/>
              </a:ext>
            </a:extLst>
          </p:cNvPr>
          <p:cNvSpPr txBox="1"/>
          <p:nvPr/>
        </p:nvSpPr>
        <p:spPr>
          <a:xfrm>
            <a:off x="762000" y="4826000"/>
            <a:ext cx="1066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A0B4D7"/>
                </a:solidFill>
                <a:latin typeface="Calibri" panose="020F0502020204030204" pitchFamily="34" charset="0"/>
              </a:rPr>
              <a:t>Project: AdventureWorks_OLAP   |   Date: August 2026</a:t>
            </a:r>
          </a:p>
        </p:txBody>
      </p:sp>
    </p:spTree>
    <p:extLst>
      <p:ext uri="{BB962C8B-B14F-4D97-AF65-F5344CB8AC3E}">
        <p14:creationId xmlns:p14="http://schemas.microsoft.com/office/powerpoint/2010/main" val="79421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6E3A22-21ED-C3D9-E36F-77EB2C09A840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2B0A7-AF0F-2608-DE9E-0B9E4520F7AF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7A35C-42E1-E115-DF61-F7C32EC31960}"/>
              </a:ext>
            </a:extLst>
          </p:cNvPr>
          <p:cNvSpPr txBox="1"/>
          <p:nvPr/>
        </p:nvSpPr>
        <p:spPr>
          <a:xfrm>
            <a:off x="762000" y="1270000"/>
            <a:ext cx="106680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1.  Project overview &amp; goals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2.  Architecture: OLTP / Staging / DW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3.  Source system - AdventureWorks-OLTP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4.  Staging layer (10 tables)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5.  Data warehouse - star schema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6.  SSIS ETL control flow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7.  Full load vs incremental (watermark)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8.  Data quality &amp; verification results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9.  Performance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10. How to run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11. Deliverables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77547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0924FB-F7DD-CF8B-DBF7-09F64DBC500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B7FE5-4E4A-5334-9B29-C17F4AC18B5D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D87FC-FF7A-953F-BDFB-C2E5EB8146C6}"/>
              </a:ext>
            </a:extLst>
          </p:cNvPr>
          <p:cNvSpPr txBox="1"/>
          <p:nvPr/>
        </p:nvSpPr>
        <p:spPr>
          <a:xfrm>
            <a:off x="762000" y="1069987"/>
            <a:ext cx="3048000" cy="964367"/>
          </a:xfrm>
          <a:prstGeom prst="rect">
            <a:avLst/>
          </a:prstGeom>
          <a:solidFill>
            <a:srgbClr val="F2F2F2"/>
          </a:solidFill>
        </p:spPr>
        <p:txBody>
          <a:bodyPr vert="horz" lIns="76200" tIns="50800" rIns="76200" bIns="50800" rtlCol="0" anchor="ctr">
            <a:spAutoFit/>
          </a:bodyPr>
          <a:lstStyle/>
          <a:p>
            <a:pPr algn="ctr"/>
            <a:r>
              <a:rPr lang="en-US" sz="1400">
                <a:solidFill>
                  <a:srgbClr val="1F3864"/>
                </a:solidFill>
                <a:latin typeface="Calibri" panose="020F0502020204030204" pitchFamily="34" charset="0"/>
              </a:rPr>
              <a:t>AdventureWorks-OLTP
(SalesLT source)
450 Address / 407 Customer
17,000 Orders / 277,880 OrderDetails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A38B6-616B-499A-85D8-A8F2DDFAEAEA}"/>
              </a:ext>
            </a:extLst>
          </p:cNvPr>
          <p:cNvSpPr txBox="1"/>
          <p:nvPr/>
        </p:nvSpPr>
        <p:spPr>
          <a:xfrm>
            <a:off x="4572000" y="1177710"/>
            <a:ext cx="3048000" cy="748923"/>
          </a:xfrm>
          <a:prstGeom prst="rect">
            <a:avLst/>
          </a:prstGeom>
          <a:solidFill>
            <a:srgbClr val="F2F2F2"/>
          </a:solidFill>
        </p:spPr>
        <p:txBody>
          <a:bodyPr vert="horz" lIns="76200" tIns="50800" rIns="76200" bIns="50800" rtlCol="0" anchor="ctr">
            <a:spAutoFit/>
          </a:bodyPr>
          <a:lstStyle/>
          <a:p>
            <a:pPr algn="ctr"/>
            <a:r>
              <a:rPr lang="en-US" sz="1400">
                <a:solidFill>
                  <a:srgbClr val="1F3864"/>
                </a:solidFill>
                <a:latin typeface="Calibri" panose="020F0502020204030204" pitchFamily="34" charset="0"/>
              </a:rPr>
              <a:t>AdventureWorks-Staging
10 mirror tables
truncate + reload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C899E-0C95-0492-BA6E-3A515B678D46}"/>
              </a:ext>
            </a:extLst>
          </p:cNvPr>
          <p:cNvSpPr txBox="1"/>
          <p:nvPr/>
        </p:nvSpPr>
        <p:spPr>
          <a:xfrm>
            <a:off x="8382000" y="1177710"/>
            <a:ext cx="3048000" cy="748923"/>
          </a:xfrm>
          <a:prstGeom prst="rect">
            <a:avLst/>
          </a:prstGeom>
          <a:solidFill>
            <a:srgbClr val="1F3864"/>
          </a:solidFill>
        </p:spPr>
        <p:txBody>
          <a:bodyPr vert="horz" lIns="76200" tIns="50800" rIns="76200" bIns="50800" rtlCol="0" anchor="ctr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Calibri" panose="020F0502020204030204" pitchFamily="34" charset="0"/>
              </a:rPr>
              <a:t>AdventureWorks-DW
Star schema
FactSales + 2 dimensions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EE2EFC8-2D97-EDAE-8F04-6118C0108AC5}"/>
              </a:ext>
            </a:extLst>
          </p:cNvPr>
          <p:cNvSpPr/>
          <p:nvPr/>
        </p:nvSpPr>
        <p:spPr>
          <a:xfrm>
            <a:off x="3873500" y="2032000"/>
            <a:ext cx="635000" cy="254000"/>
          </a:xfrm>
          <a:prstGeom prst="rightArrow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0FC7913-DD93-C5AD-58F8-95A3AB487E4E}"/>
              </a:ext>
            </a:extLst>
          </p:cNvPr>
          <p:cNvSpPr/>
          <p:nvPr/>
        </p:nvSpPr>
        <p:spPr>
          <a:xfrm>
            <a:off x="7683500" y="2032000"/>
            <a:ext cx="635000" cy="254000"/>
          </a:xfrm>
          <a:prstGeom prst="rightArrow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0D5B2-9468-D057-074F-401D66082325}"/>
              </a:ext>
            </a:extLst>
          </p:cNvPr>
          <p:cNvSpPr txBox="1"/>
          <p:nvPr/>
        </p:nvSpPr>
        <p:spPr>
          <a:xfrm>
            <a:off x="2540000" y="3323553"/>
            <a:ext cx="7112000" cy="318036"/>
          </a:xfrm>
          <a:prstGeom prst="rect">
            <a:avLst/>
          </a:prstGeom>
          <a:solidFill>
            <a:srgbClr val="ED7D31"/>
          </a:solidFill>
        </p:spPr>
        <p:txBody>
          <a:bodyPr vert="horz" lIns="76200" tIns="50800" rIns="76200" bIns="5080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 panose="020F0502020204030204" pitchFamily="34" charset="0"/>
              </a:rPr>
              <a:t>SSIS package: Load DW Pipeline.dtsx  (SSIS 2016 format, run on 2025 runtime)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A2270-A437-4AA4-044A-4D586292A177}"/>
              </a:ext>
            </a:extLst>
          </p:cNvPr>
          <p:cNvSpPr txBox="1"/>
          <p:nvPr/>
        </p:nvSpPr>
        <p:spPr>
          <a:xfrm>
            <a:off x="762000" y="4191000"/>
            <a:ext cx="1066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ETL: extract from SalesLT -&gt; load staging -&gt; build dimensions (customer SCD1, product SCD2) -&gt; load facts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Change tracking: LastSuccessfulRun watermark table in the DW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InitialLoad + CurrentJobTime + Language package parameters control each run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Rejected rows routed to BadRows tables instead of failing the load</a:t>
            </a:r>
          </a:p>
        </p:txBody>
      </p:sp>
    </p:spTree>
    <p:extLst>
      <p:ext uri="{BB962C8B-B14F-4D97-AF65-F5344CB8AC3E}">
        <p14:creationId xmlns:p14="http://schemas.microsoft.com/office/powerpoint/2010/main" val="288232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9EBF94-6CF8-0B5A-6CA7-E067A0D7E8E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AF7B0-12A3-20EC-31A6-59DB57202EF5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Source System - AdventureWorks-OLTP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6A06E6-8255-C578-EF72-77285B1C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637576"/>
              </p:ext>
            </p:extLst>
          </p:nvPr>
        </p:nvGraphicFramePr>
        <p:xfrm>
          <a:off x="762000" y="1270000"/>
          <a:ext cx="889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745064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79667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83797286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Purpose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Rows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52007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SalesLT.Address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Customer / order addresses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7727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Customer 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408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SalesLT.SalesOrderHeader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Order headers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17,000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14179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SalesLT.SalesOrderDetails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Order line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277,880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11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C2BAF0-EC87-A118-8A02-DDFAEC026C6C}"/>
              </a:ext>
            </a:extLst>
          </p:cNvPr>
          <p:cNvSpPr txBox="1"/>
          <p:nvPr/>
        </p:nvSpPr>
        <p:spPr>
          <a:xfrm>
            <a:off x="762000" y="4318000"/>
            <a:ext cx="1066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Restored from AdventureWorks-OLTP.mdf backup; relational SalesLT schema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Tables carry ModifiedDate - used for incremental extraction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Product data extracted from Product / ProductCategory / ProductDescription / ProductModel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Lookup tables (AddressType, Culture) joined during extraction</a:t>
            </a:r>
          </a:p>
        </p:txBody>
      </p:sp>
    </p:spTree>
    <p:extLst>
      <p:ext uri="{BB962C8B-B14F-4D97-AF65-F5344CB8AC3E}">
        <p14:creationId xmlns:p14="http://schemas.microsoft.com/office/powerpoint/2010/main" val="169738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8C4F230-C749-6BFB-B542-B419822201CB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7A2DC-D8E8-8D3F-55C1-77BA0AC156EE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Staging Layer - AdventureWorks-Staging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85BBD1-E00E-F84C-7B38-E1D3AD457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69552"/>
              </p:ext>
            </p:extLst>
          </p:nvPr>
        </p:nvGraphicFramePr>
        <p:xfrm>
          <a:off x="762000" y="1270000"/>
          <a:ext cx="787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7659942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8180037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Staging table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09617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dbo.Address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SalesLT.Address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32995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25943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dbo.Customer_Address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SalesLT.CustomerAddress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5103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5574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dbo.ProductCategory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SalesLT.ProductCategory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430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dbo.ProductDescription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SalesLT.ProductDescription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07954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dbo.ProductModel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SalesLT.ProductModel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6008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dbo.ProductModel_Description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SalesLT.ProductModelDescription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18807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dbo.SalesOrderHeader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SalesLT.SalesOrderHeader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84343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dbo.SalesOrderDetails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SalesLT.SalesOrderDetails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795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5F9577-8604-A192-F9E3-136F2C79AA94}"/>
              </a:ext>
            </a:extLst>
          </p:cNvPr>
          <p:cNvSpPr txBox="1"/>
          <p:nvPr/>
        </p:nvSpPr>
        <p:spPr>
          <a:xfrm>
            <a:off x="8890000" y="1524000"/>
            <a:ext cx="2794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Truncate + reload every run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One OLE DB Source per flow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Single cutoff param: ModifiedDate &gt; @LastJobTime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FastLoad bulk inserts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Staging is the join surface for dim/fact builds</a:t>
            </a:r>
          </a:p>
        </p:txBody>
      </p:sp>
    </p:spTree>
    <p:extLst>
      <p:ext uri="{BB962C8B-B14F-4D97-AF65-F5344CB8AC3E}">
        <p14:creationId xmlns:p14="http://schemas.microsoft.com/office/powerpoint/2010/main" val="121694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537DF4-6A3B-5D92-2430-6D0EAF0A50D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971A4-4B1F-CB8E-EDCF-789AD0F7C337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Data Warehouse - Star Schema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DADFBC-C3F9-37BC-590A-8BA6E3FF8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221023"/>
              </p:ext>
            </p:extLst>
          </p:nvPr>
        </p:nvGraphicFramePr>
        <p:xfrm>
          <a:off x="762000" y="1270000"/>
          <a:ext cx="9652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100096330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266926703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2580244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Rows loaded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900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Sales.DimCustomer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Customer attributes + Main Office address (SCD1)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16136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Sales.DimProduct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Product + category + model attributes; Cost/Price history (SCD2)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3780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Sales.FactSales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Order line facts with surrogate keys + order/ship dates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277,880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318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7A8866A-6A4F-AA19-9727-72216CA452EF}"/>
              </a:ext>
            </a:extLst>
          </p:cNvPr>
          <p:cNvSpPr txBox="1"/>
          <p:nvPr/>
        </p:nvSpPr>
        <p:spPr>
          <a:xfrm>
            <a:off x="762000" y="4318000"/>
            <a:ext cx="1066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Dimension keys: surrogate CustomerKey / ProductKey via identity + lookup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Date keys resolved through DimDate lookups (OrderDate, ShipDate)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Measures: Quantity, UnitPrice, Discount, LineTotal; plus BatchYear/BatchMonth grain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SCD1 updates change existing customer rows in place; SellEndDate overwritten across all product variants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SCD2 expires the current version and inserts a new one when Cost/Price changes (EffectiveStart/EffectiveEndDate)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Foreign keys enforced; load disables/re-enables constraints (InitialLoad)</a:t>
            </a:r>
          </a:p>
        </p:txBody>
      </p:sp>
    </p:spTree>
    <p:extLst>
      <p:ext uri="{BB962C8B-B14F-4D97-AF65-F5344CB8AC3E}">
        <p14:creationId xmlns:p14="http://schemas.microsoft.com/office/powerpoint/2010/main" val="59771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E3458C-6D38-3D60-12FA-037DDA625117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EF48B-E278-EA19-E78C-A1F2F85981AC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SSIS 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6B75A-A30C-450C-3215-F893C52E4588}"/>
              </a:ext>
            </a:extLst>
          </p:cNvPr>
          <p:cNvSpPr txBox="1"/>
          <p:nvPr/>
        </p:nvSpPr>
        <p:spPr>
          <a:xfrm>
            <a:off x="762000" y="1270000"/>
            <a:ext cx="10668000" cy="35394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1"/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Initialize (sequential tasks)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Set Current Job Time (CurrentJobTime param; GETDATE fallback) -&gt; Sync InitialLoad -&gt; Sync Language -&gt; Read Watermark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Read Watermark (returns 1900-01-01 on full load, else last run time)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Prepare DW (truncate fact/dims only when InitialLoad = 1)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Load Staging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Prepare Staging (truncate) -&gt; 10 parallel Stage data flows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Load dimensions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Load DimCustomer (SCD1): derive Name, lookup, update-or-insert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Load DimProduct (SCD2): lookup, update-or-insert; expire + insert on Cost/Price change; SellEndDate overwrite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Load FactSales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Source staging SOH+SOD where OrderDate &gt; last watermark AND &lt;= CurrentJobTime; lookups for customer/product/order/ship dates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Update Watermark (LastSuccessfulRun = CurrentJobTime)</a:t>
            </a:r>
          </a:p>
        </p:txBody>
      </p:sp>
    </p:spTree>
    <p:extLst>
      <p:ext uri="{BB962C8B-B14F-4D97-AF65-F5344CB8AC3E}">
        <p14:creationId xmlns:p14="http://schemas.microsoft.com/office/powerpoint/2010/main" val="2148699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8936B9-4405-3C6F-B543-7D0F3C2AEC2A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5749B-2CE4-1190-7A2B-8E22F0C51BAE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Full Load vs Incremental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953BFE-41DE-394C-C8EF-7DD6A1701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19893"/>
              </p:ext>
            </p:extLst>
          </p:nvPr>
        </p:nvGraphicFramePr>
        <p:xfrm>
          <a:off x="762000" y="1270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95913738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041011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30614756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87851171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InitialLoad param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Extraction window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DW handling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2813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Full (Run 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All rows; watermark seeded 1900-01-01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Truncate facts + dims, rebuild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083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Incremental (Run II)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OrderDate &gt; watermark AND &lt;= CurrentJobTime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Append / update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493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E0C5D4-0435-E99B-4F11-A0BB0C5ECFA5}"/>
              </a:ext>
            </a:extLst>
          </p:cNvPr>
          <p:cNvSpPr txBox="1"/>
          <p:nvPr/>
        </p:nvSpPr>
        <p:spPr>
          <a:xfrm>
            <a:off x="762000" y="3683000"/>
            <a:ext cx="10668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Watermark table: dbo.Watermark(LastSuccessfulRun)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CurrentJobTime package parameter (DateTime) = the run window end, set per run (spec: set manually each run)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Fact source: WHERE SOH.OrderDate &gt; @LastJobTime AND SOH.OrderDate &lt;= @CurrentJobTime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Watermark is updated with CurrentJobTime after a successful run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Demo: Run I CurrentJobTime=12-30-2022 loads OLTP V1; Run II CurrentJobTime=12-30-2026 appends V1+V2</a:t>
            </a:r>
            <a:b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DTExec /File cannot override package parameters -&gt; defaults baked at build time via build_dtsx.ps1</a:t>
            </a:r>
          </a:p>
        </p:txBody>
      </p:sp>
    </p:spTree>
    <p:extLst>
      <p:ext uri="{BB962C8B-B14F-4D97-AF65-F5344CB8AC3E}">
        <p14:creationId xmlns:p14="http://schemas.microsoft.com/office/powerpoint/2010/main" val="22124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1445EA-39C4-D369-673C-15D3EC54F8C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11DC33-470D-A5A5-62E3-932A4CE181A6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Verification - Data Quality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14666B-5373-ABB5-48AE-9C1AFCDF5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42732"/>
              </p:ext>
            </p:extLst>
          </p:nvPr>
        </p:nvGraphicFramePr>
        <p:xfrm>
          <a:off x="762000" y="1270000"/>
          <a:ext cx="1016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6446129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195349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93579040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Check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Expected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Actual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76125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FactSales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= SalesOrderDetails 277,880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277,880 (both runs)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6288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Duplicate SalesOrderDetailID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4773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DimCustomer rows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= distinct customers 407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2550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DimProduct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= distinct products 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23231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BadRows (FK/date failures)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69304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Watermark after Run I / Run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12-30-2022 / 12-30-2026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2022-12-30 / 2026-12-30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3247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4240B4-931E-1E5D-0A6C-39AB306963B9}"/>
              </a:ext>
            </a:extLst>
          </p:cNvPr>
          <p:cNvSpPr txBox="1"/>
          <p:nvPr/>
        </p:nvSpPr>
        <p:spPr>
          <a:xfrm>
            <a:off x="762000" y="4826000"/>
            <a:ext cx="1066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Run I (InitialLoad=True, CurrentJobTime=12-30-2022): exit 0, full rebuild, 277,880 fact rows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Run II (InitialLoad=False, CurrentJobTime=12-30-2026): exit 0, increment empty, counts unchanged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OLTP vs OLAP queries: 432/432 rows equal, 0 numeric mismatches (TotalSales, GrossSales, discounts, ratios)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Debug Log task records InitialLoad flag + cutoff per run for diagnostics</a:t>
            </a:r>
          </a:p>
        </p:txBody>
      </p:sp>
    </p:spTree>
    <p:extLst>
      <p:ext uri="{BB962C8B-B14F-4D97-AF65-F5344CB8AC3E}">
        <p14:creationId xmlns:p14="http://schemas.microsoft.com/office/powerpoint/2010/main" val="346793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F10A6B-C399-1A0A-33FE-F6230F438BF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A2BD0-854D-F129-2893-9B40688E3601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Performance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DB33CD-2185-8717-F5EA-0556C9673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90616"/>
              </p:ext>
            </p:extLst>
          </p:nvPr>
        </p:nvGraphicFramePr>
        <p:xfrm>
          <a:off x="762000" y="1270000"/>
          <a:ext cx="914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396582146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946583278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73959902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Pipeline run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Elapsed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Rows moved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218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Full (Run I, 12-30-2022)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34.5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277,880 fact rows + dimensions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31795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Incremental (Run II, 12-30-2026)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5.9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0 (no new source rows)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4018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611CAF-B76B-268C-47AE-B807A95D9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36983"/>
              </p:ext>
            </p:extLst>
          </p:nvPr>
        </p:nvGraphicFramePr>
        <p:xfrm>
          <a:off x="762000" y="3048000"/>
          <a:ext cx="9652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5208775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6379688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495438601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4515323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Company query (SET STATISTICS TIME ON)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Rows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CPU ms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Elapsed ms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7919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OLTP Query (source system)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4,445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1,898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61194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OLAP Query (DW, warm)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1,109-1,781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1,359-7,958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5316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F5B357D-816D-A514-50DC-33C333671D2B}"/>
              </a:ext>
            </a:extLst>
          </p:cNvPr>
          <p:cNvSpPr txBox="1"/>
          <p:nvPr/>
        </p:nvSpPr>
        <p:spPr>
          <a:xfrm>
            <a:off x="762000" y="5334000"/>
            <a:ext cx="10668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OLAP returns identical 432 category rows; CPU up to ~4x lower than querying OLTP directly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Bulk FastLoad into staging and destination tables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Full-cache lookups (295 products, 407 customers, date caches) - validated once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Runs on the 2025 SSIS runtime (17.0.1000.7); 2016 runtime cannot execute data flows here</a:t>
            </a:r>
          </a:p>
        </p:txBody>
      </p:sp>
    </p:spTree>
    <p:extLst>
      <p:ext uri="{BB962C8B-B14F-4D97-AF65-F5344CB8AC3E}">
        <p14:creationId xmlns:p14="http://schemas.microsoft.com/office/powerpoint/2010/main" val="190823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F3D830-8910-6C70-F55C-7D15108A6854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F7737-89E9-16CF-5C20-1B6625B54324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How to Run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9ECA2-4DD9-0D36-D1FD-6BD350445DEE}"/>
              </a:ext>
            </a:extLst>
          </p:cNvPr>
          <p:cNvSpPr txBox="1"/>
          <p:nvPr/>
        </p:nvSpPr>
        <p:spPr>
          <a:xfrm>
            <a:off x="762000" y="1270000"/>
            <a:ext cx="106680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1"/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1.  Restore source: SQL\01_Restore_OLTP.sql (attaches Data\AdventureWorks-OLTP.mdf)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2.  Create schema: SQL\02_Staging_Create.sql + SQL\03_DW_Create.sql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3.  Build the package (full load default):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powershell build_dtsx.ps1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Build for incremental mode:  build_dtsx.ps1 -InitialLoad False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4.  Execute with the 2025 runtime wrapper: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run_clean.bat   -&gt; prints VERBOSE_EXIT / CLEAN_RUN_EXIT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5.  Verify with the query scripts: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SQL\07_OLTP_Query.sql (source) and SQL\08_OLAP_Query.sql (DW analytics)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6.  Reset if needed: SQL\04_Reset_Staging.sql and SQL\05_Reset_DW.sql</a:t>
            </a:r>
          </a:p>
        </p:txBody>
      </p:sp>
    </p:spTree>
    <p:extLst>
      <p:ext uri="{BB962C8B-B14F-4D97-AF65-F5344CB8AC3E}">
        <p14:creationId xmlns:p14="http://schemas.microsoft.com/office/powerpoint/2010/main" val="735716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EF2089-BAA8-58A0-F10A-1963F0C1F325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56E26-004D-C5D4-AB6F-149AF613D0D7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Deliverables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DCAB6F-F54A-7C7E-96FF-34BE2F460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49887"/>
              </p:ext>
            </p:extLst>
          </p:nvPr>
        </p:nvGraphicFramePr>
        <p:xfrm>
          <a:off x="762000" y="1270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49676103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6941564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0666731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Location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4038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AdventureWorks-OLTP backup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Data\AdventureWorks-OLTP.mdf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Restored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83983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Staging + DW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SQL\02_Staging_Create.sql, 03_DW_Create.sql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1656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SSIS package Load DW Pipeline.dtsx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AdventureWorks_OLAP\Load DW Pipeline.dtsx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Done + verified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67997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SSIS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AdventureWorks_OLAP\AdventureWorks_OLAP.dtproj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3845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DW full backup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Docs\AdventureWorks-DW.bak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93028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Submission 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Sayed_Gamea_ejada.zip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F3864"/>
                          </a:solidFill>
                          <a:latin typeface="Calibri" panose="020F0502020204030204" pitchFamily="34" charset="0"/>
                        </a:rPr>
                        <a:t>Assembled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1395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4799D7-1A80-8EF6-8F5E-29170B9A7022}"/>
              </a:ext>
            </a:extLst>
          </p:cNvPr>
          <p:cNvSpPr txBox="1"/>
          <p:nvPr/>
        </p:nvSpPr>
        <p:spPr>
          <a:xfrm>
            <a:off x="762000" y="5080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This presentation: Docs\AdventureWorks_ETL_Presentation.pptx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All deliverables are re-buildable from build_dtsx.ps1 + SQL scripts</a:t>
            </a:r>
          </a:p>
        </p:txBody>
      </p:sp>
    </p:spTree>
    <p:extLst>
      <p:ext uri="{BB962C8B-B14F-4D97-AF65-F5344CB8AC3E}">
        <p14:creationId xmlns:p14="http://schemas.microsoft.com/office/powerpoint/2010/main" val="3430698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0143F5-8FC3-3390-F983-DA545F9FF82F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106FE-98CD-7591-615A-DC1B4628DD90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1F3864"/>
                </a:solidFill>
                <a:latin typeface="Calibri" panose="020F0502020204030204" pitchFamily="34" charset="0"/>
              </a:rPr>
              <a:t>Next Steps /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F4036-378A-B0A3-5B12-092A4CCA43ED}"/>
              </a:ext>
            </a:extLst>
          </p:cNvPr>
          <p:cNvSpPr txBox="1"/>
          <p:nvPr/>
        </p:nvSpPr>
        <p:spPr>
          <a:xfrm>
            <a:off x="762000" y="1524000"/>
            <a:ext cx="1066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SCD2 history on remaining dimensions (e.g., DimCustomer)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Analysis Services cube over FactSales (data source, DSV, cube, process)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Schedule via SQL Server Agent / ADF instead of manual batch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Alerting and email on failure + bad-rows monitoring</a:t>
            </a:r>
            <a:b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1F3864"/>
                </a:solidFill>
                <a:latin typeface="Calibri" panose="020F0502020204030204" pitchFamily="34" charset="0"/>
              </a:rPr>
              <a:t>Row-count reconciliation report between source and DW per run</a:t>
            </a:r>
          </a:p>
        </p:txBody>
      </p:sp>
    </p:spTree>
    <p:extLst>
      <p:ext uri="{BB962C8B-B14F-4D97-AF65-F5344CB8AC3E}">
        <p14:creationId xmlns:p14="http://schemas.microsoft.com/office/powerpoint/2010/main" val="383657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8E527-2391-FC85-8553-66C5EB4B41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AC4888-466D-DBE2-325A-8BC59B3CA321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ED7D3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F6DD5-2AFC-29A5-8AF5-C74D04A9C674}"/>
              </a:ext>
            </a:extLst>
          </p:cNvPr>
          <p:cNvSpPr txBox="1"/>
          <p:nvPr/>
        </p:nvSpPr>
        <p:spPr>
          <a:xfrm>
            <a:off x="762000" y="2540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Calibri" panose="020F050202020403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E1844-E4C1-F7DC-2494-705882F21478}"/>
              </a:ext>
            </a:extLst>
          </p:cNvPr>
          <p:cNvSpPr txBox="1"/>
          <p:nvPr/>
        </p:nvSpPr>
        <p:spPr>
          <a:xfrm>
            <a:off x="762000" y="3937000"/>
            <a:ext cx="1066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200">
                <a:solidFill>
                  <a:srgbClr val="BECDEB"/>
                </a:solidFill>
                <a:latin typeface="Calibri" panose="020F0502020204030204" pitchFamily="34" charset="0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91823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Microsoft Office PowerPoint</Application>
  <PresentationFormat>Custom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Sayed Gamea</dc:creator>
  <cp:lastModifiedBy>Sayed Gamea</cp:lastModifiedBy>
  <cp:revision>1</cp:revision>
  <dcterms:created xsi:type="dcterms:W3CDTF">2026-08-02T02:24:26Z</dcterms:created>
  <dcterms:modified xsi:type="dcterms:W3CDTF">2026-08-02T02:24:26Z</dcterms:modified>
</cp:coreProperties>
</file>