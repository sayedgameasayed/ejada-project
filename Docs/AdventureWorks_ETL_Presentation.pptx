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FD526-CE66-1BD1-7476-C0A59D9C85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1C70FF-0535-9DDA-2FF3-14A25C7677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BED8E-E2BE-06E2-BA80-C19ADD7EC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37BD8-EA9E-467F-B36B-CC24F78C48CB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4648B9-2ABE-D21B-0C43-16BD08182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9EEFF1-9928-1810-5530-FD5D97392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A4D40-7E3E-4880-A61C-AC1212F84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262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F62AD-66A9-3EA2-21F4-1B14962C6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FEC38-EC60-51C7-3D12-E61137174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5ACDE-E746-C339-F394-57C8E7B9A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37BD8-EA9E-467F-B36B-CC24F78C48CB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C1A573-6B33-4B2B-99EF-5FCDC00F3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14B035-0779-06FB-6030-64BE041C9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A4D40-7E3E-4880-A61C-AC1212F84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371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ED8A8-CAE8-DB03-1DF3-F06789981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A07572-E818-4F39-E891-89E0AEF8C9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2D015F-1FDB-AE19-731E-BBFE4A493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37BD8-EA9E-467F-B36B-CC24F78C48CB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26E5B7-66B9-95A5-0988-4171E39D0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BE4B5C-096E-9CBD-F348-61E82C468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A4D40-7E3E-4880-A61C-AC1212F84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479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81395-9286-F5DE-DE26-CF06AC6FF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9AC2F-8A3E-1E3F-2014-216BB2EDC6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4F5B50-1ADE-3291-0851-E63C6F49D2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11B5B7-8B19-1871-A1F3-0F14DE1FE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37BD8-EA9E-467F-B36B-CC24F78C48CB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061024-C3CE-6AAE-6D50-368D5DA2A8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A5EE2D-B482-A365-E628-76C7FFC8D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A4D40-7E3E-4880-A61C-AC1212F84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654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39C6E-4EDF-3EC0-DB9E-342AB84D2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2B29AB-D075-2554-97AC-DD3786538A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D83A92-2F64-9954-FA64-00A83465D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7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BBBC74-B1DF-0086-919C-C8F34965AB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D1C88A-8636-A0CD-801A-C4E8788B33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7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1502E51-8C14-7424-B78D-9AF71645E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37BD8-EA9E-467F-B36B-CC24F78C48CB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0785F8-7945-EF9A-C3BA-181FD69DA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ADFF2-1A51-3856-B90E-E03F45258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A4D40-7E3E-4880-A61C-AC1212F84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189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62AB5-960A-23F5-DB42-6C9C477AC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A330B-705E-42C9-A29E-6EDF09C29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37BD8-EA9E-467F-B36B-CC24F78C48CB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06FA9F-48E8-C4B1-D98D-8510221DF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E526FB-BAD5-9DDE-D24E-59F5B402F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A4D40-7E3E-4880-A61C-AC1212F84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1646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9B5D84-A181-7F3F-59E0-B24966666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37BD8-EA9E-467F-B36B-CC24F78C48CB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00C722-ECBE-CC24-5F82-1F016D6B0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C17814-228D-5677-D8E9-8F1306630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A4D40-7E3E-4880-A61C-AC1212F84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5246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DB2BB-11E4-8E9E-9F4E-501224879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1C0A0-E7ED-7DF1-27A8-E2661F8C0E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588837-016A-43F4-37F5-B5AE88681C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3AFD80-96B2-99F2-446D-102019B48C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37BD8-EA9E-467F-B36B-CC24F78C48CB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20C664-B558-29E9-321E-FF932FCB9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D7B80D-8621-67BD-0788-5B1CDC4D1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A4D40-7E3E-4880-A61C-AC1212F84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542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7C14B-380D-49A2-95C9-96F2481DA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BE81D8-2A99-8ED2-D6DF-53555BD279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A24263-621D-D114-A275-97CE6A4CF1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C99D78-11C4-280F-1049-4CE66B2E3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37BD8-EA9E-467F-B36B-CC24F78C48CB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66A402-96F6-BD97-63B9-B9AAD9A7D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A54821-D5C2-5F3F-02D4-146E9439C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A4D40-7E3E-4880-A61C-AC1212F84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340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19E66-E6B8-39C4-A6D3-E79010A18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20C704-752B-846A-3DD5-7EBC485DE4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CA1C8-EBE5-7FA2-C7DA-A622D8B69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37BD8-EA9E-467F-B36B-CC24F78C48CB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D8CC0A-F922-3B76-253A-B881C072B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88C566-44CA-A786-5198-4FDA3798C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A4D40-7E3E-4880-A61C-AC1212F84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71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039CEC-3FA3-44AE-B55C-4285A944BC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7"/>
            <a:ext cx="2628900" cy="58118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E12422-0B95-2D9F-18CA-E5A674EFCB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7"/>
            <a:ext cx="7734300" cy="58118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EE314-3234-7E3A-6F37-608C03B88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37BD8-EA9E-467F-B36B-CC24F78C48CB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23E39D-D71F-2D8E-6759-1D38051C7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5E7D0-E56A-EB74-6C93-42BC7DD55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A4D40-7E3E-4880-A61C-AC1212F84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655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A3BAEA-B34D-7F06-EFB6-63E7977434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908BE5-30BB-4953-6517-A730402784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75089-C711-DDE5-EA7B-643018E35D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537BD8-EA9E-467F-B36B-CC24F78C48CB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5312A3-911C-6F93-3213-A90E587AB2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541BD5-CFCE-9295-2B1A-5883ABEC1D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EA4D40-7E3E-4880-A61C-AC1212F84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0851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A138D10-1297-F76D-F403-A2743C93776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A20070-0E87-BB2A-81A7-C1B35B2A7D71}"/>
              </a:ext>
            </a:extLst>
          </p:cNvPr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C74AEA-5386-3C46-13BB-D3B0B2580F48}"/>
              </a:ext>
            </a:extLst>
          </p:cNvPr>
          <p:cNvSpPr txBox="1"/>
          <p:nvPr/>
        </p:nvSpPr>
        <p:spPr>
          <a:xfrm>
            <a:off x="762000" y="1905000"/>
            <a:ext cx="10668000" cy="76944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4400" b="1">
                <a:solidFill>
                  <a:srgbClr val="FFFFFF"/>
                </a:solidFill>
                <a:latin typeface="Calibri" panose="020F0502020204030204" pitchFamily="34" charset="0"/>
              </a:rPr>
              <a:t>AdventureWorks ETL to Data Warehouse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974DAE-804B-D701-D7C2-890A2DCB18FD}"/>
              </a:ext>
            </a:extLst>
          </p:cNvPr>
          <p:cNvSpPr txBox="1"/>
          <p:nvPr/>
        </p:nvSpPr>
        <p:spPr>
          <a:xfrm>
            <a:off x="762000" y="3175000"/>
            <a:ext cx="10668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>
                <a:solidFill>
                  <a:srgbClr val="BECDEB"/>
                </a:solidFill>
                <a:latin typeface="Calibri" panose="020F0502020204030204" pitchFamily="34" charset="0"/>
              </a:rPr>
              <a:t>SSIS Daily ETL Pipeline: OLTP  -&gt;  Staging  -&gt;  Star-Schema DW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62A8DD-E93D-84F7-8D5C-3700D54EBE2A}"/>
              </a:ext>
            </a:extLst>
          </p:cNvPr>
          <p:cNvSpPr txBox="1"/>
          <p:nvPr/>
        </p:nvSpPr>
        <p:spPr>
          <a:xfrm>
            <a:off x="762000" y="4826000"/>
            <a:ext cx="10668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>
                <a:solidFill>
                  <a:srgbClr val="A0B4D7"/>
                </a:solidFill>
                <a:latin typeface="Calibri" panose="020F0502020204030204" pitchFamily="34" charset="0"/>
              </a:rPr>
              <a:t>Project: AdventureWorks_OLAP   |   Date: August 2026</a:t>
            </a:r>
          </a:p>
        </p:txBody>
      </p:sp>
    </p:spTree>
    <p:extLst>
      <p:ext uri="{BB962C8B-B14F-4D97-AF65-F5344CB8AC3E}">
        <p14:creationId xmlns:p14="http://schemas.microsoft.com/office/powerpoint/2010/main" val="2083469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359AA3-7FA8-3A33-BBE2-AF9547D1AAC5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05BBA6-5F2C-AA61-1D33-CE3B49C61405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Agenda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37C578-545B-066B-A267-0D78B76E883E}"/>
              </a:ext>
            </a:extLst>
          </p:cNvPr>
          <p:cNvSpPr txBox="1"/>
          <p:nvPr/>
        </p:nvSpPr>
        <p:spPr>
          <a:xfrm>
            <a:off x="762000" y="1270000"/>
            <a:ext cx="10668000" cy="280076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1.  Project overview &amp; goals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2.  Architecture: OLTP / Staging / DW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3.  Source system - AdventureWorks-OLTP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4.  Staging layer (10 tables)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5.  Data warehouse - star schema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6.  SSIS ETL control flow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7.  Full load vs incremental (watermark)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8.  Data quality &amp; verification results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9.  Performance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10. How to run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11. Deliverables &amp; next steps</a:t>
            </a:r>
          </a:p>
        </p:txBody>
      </p:sp>
    </p:spTree>
    <p:extLst>
      <p:ext uri="{BB962C8B-B14F-4D97-AF65-F5344CB8AC3E}">
        <p14:creationId xmlns:p14="http://schemas.microsoft.com/office/powerpoint/2010/main" val="1933816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10F133-6B6F-005F-A9E6-67EB82D987A0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D6A541-8825-17C9-BB8E-52D0F9B7A34C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Architecture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AB98EC-36B4-9160-62F0-2FD990079DB2}"/>
              </a:ext>
            </a:extLst>
          </p:cNvPr>
          <p:cNvSpPr txBox="1"/>
          <p:nvPr/>
        </p:nvSpPr>
        <p:spPr>
          <a:xfrm>
            <a:off x="762000" y="1069987"/>
            <a:ext cx="3048000" cy="964367"/>
          </a:xfrm>
          <a:prstGeom prst="rect">
            <a:avLst/>
          </a:prstGeom>
          <a:solidFill>
            <a:srgbClr val="F2F2F2"/>
          </a:solidFill>
        </p:spPr>
        <p:txBody>
          <a:bodyPr vert="horz" lIns="76200" tIns="50800" rIns="76200" bIns="50800" rtlCol="0" anchor="ctr">
            <a:spAutoFit/>
          </a:bodyPr>
          <a:lstStyle/>
          <a:p>
            <a:pPr algn="ctr"/>
            <a:r>
              <a:rPr lang="en-US" sz="1400">
                <a:solidFill>
                  <a:srgbClr val="1F3864"/>
                </a:solidFill>
                <a:latin typeface="Calibri" panose="020F0502020204030204" pitchFamily="34" charset="0"/>
              </a:rPr>
              <a:t>AdventureWorks-OLTP
(SalesLT source)
450 Address / 407 Customer
17,000 Orders / 277,880 OrderDetails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5CC997-D8BF-5732-1BE8-4C79234C0CC0}"/>
              </a:ext>
            </a:extLst>
          </p:cNvPr>
          <p:cNvSpPr txBox="1"/>
          <p:nvPr/>
        </p:nvSpPr>
        <p:spPr>
          <a:xfrm>
            <a:off x="4572000" y="1177710"/>
            <a:ext cx="3048000" cy="748923"/>
          </a:xfrm>
          <a:prstGeom prst="rect">
            <a:avLst/>
          </a:prstGeom>
          <a:solidFill>
            <a:srgbClr val="F2F2F2"/>
          </a:solidFill>
        </p:spPr>
        <p:txBody>
          <a:bodyPr vert="horz" lIns="76200" tIns="50800" rIns="76200" bIns="50800" rtlCol="0" anchor="ctr">
            <a:spAutoFit/>
          </a:bodyPr>
          <a:lstStyle/>
          <a:p>
            <a:pPr algn="ctr"/>
            <a:r>
              <a:rPr lang="en-US" sz="1400">
                <a:solidFill>
                  <a:srgbClr val="1F3864"/>
                </a:solidFill>
                <a:latin typeface="Calibri" panose="020F0502020204030204" pitchFamily="34" charset="0"/>
              </a:rPr>
              <a:t>AdventureWorks-Staging
10 mirror tables
truncate + reload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0E1FF-0DEC-7023-7E6C-111019B0D88E}"/>
              </a:ext>
            </a:extLst>
          </p:cNvPr>
          <p:cNvSpPr txBox="1"/>
          <p:nvPr/>
        </p:nvSpPr>
        <p:spPr>
          <a:xfrm>
            <a:off x="8382000" y="1177710"/>
            <a:ext cx="3048000" cy="748923"/>
          </a:xfrm>
          <a:prstGeom prst="rect">
            <a:avLst/>
          </a:prstGeom>
          <a:solidFill>
            <a:srgbClr val="1F3864"/>
          </a:solidFill>
        </p:spPr>
        <p:txBody>
          <a:bodyPr vert="horz" lIns="76200" tIns="50800" rIns="76200" bIns="50800" rtlCol="0" anchor="ctr">
            <a:spAutoFit/>
          </a:bodyPr>
          <a:lstStyle/>
          <a:p>
            <a:pPr algn="ctr"/>
            <a:r>
              <a:rPr lang="en-US" sz="1400">
                <a:solidFill>
                  <a:srgbClr val="FFFFFF"/>
                </a:solidFill>
                <a:latin typeface="Calibri" panose="020F0502020204030204" pitchFamily="34" charset="0"/>
              </a:rPr>
              <a:t>AdventureWorks-DW
Star schema
FactSales + 2 dimensions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137D6704-B3FC-258B-8F14-EF7F29A82E09}"/>
              </a:ext>
            </a:extLst>
          </p:cNvPr>
          <p:cNvSpPr/>
          <p:nvPr/>
        </p:nvSpPr>
        <p:spPr>
          <a:xfrm>
            <a:off x="3873500" y="2032000"/>
            <a:ext cx="635000" cy="254000"/>
          </a:xfrm>
          <a:prstGeom prst="rightArrow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83C9713F-ACA7-8233-9796-16CF04D4E49A}"/>
              </a:ext>
            </a:extLst>
          </p:cNvPr>
          <p:cNvSpPr/>
          <p:nvPr/>
        </p:nvSpPr>
        <p:spPr>
          <a:xfrm>
            <a:off x="7683500" y="2032000"/>
            <a:ext cx="635000" cy="254000"/>
          </a:xfrm>
          <a:prstGeom prst="rightArrow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7D0133-EC0C-9F1A-DD48-C2A252430A5A}"/>
              </a:ext>
            </a:extLst>
          </p:cNvPr>
          <p:cNvSpPr txBox="1"/>
          <p:nvPr/>
        </p:nvSpPr>
        <p:spPr>
          <a:xfrm>
            <a:off x="2540000" y="3323553"/>
            <a:ext cx="7112000" cy="318036"/>
          </a:xfrm>
          <a:prstGeom prst="rect">
            <a:avLst/>
          </a:prstGeom>
          <a:solidFill>
            <a:srgbClr val="ED7D31"/>
          </a:solidFill>
        </p:spPr>
        <p:txBody>
          <a:bodyPr vert="horz" lIns="76200" tIns="50800" rIns="76200" bIns="50800" rtlCol="0" anchor="ctr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Calibri" panose="020F0502020204030204" pitchFamily="34" charset="0"/>
              </a:rPr>
              <a:t>SSIS package: DailyETL.dtsx  (SSIS 2016 format, run on 2025 runtime)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9B91A2-FAFD-DB25-BE0E-F5576980D6BA}"/>
              </a:ext>
            </a:extLst>
          </p:cNvPr>
          <p:cNvSpPr txBox="1"/>
          <p:nvPr/>
        </p:nvSpPr>
        <p:spPr>
          <a:xfrm>
            <a:off x="762000" y="4191000"/>
            <a:ext cx="10668000" cy="107721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ETL: extract from SalesLT -&gt; load staging -&gt; build dimensions (SCD1) -&gt; load facts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Change tracking: LastSuccessfulRun watermark table in the DW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InitialLoad package parameter switches full vs incremental behavior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Rejected rows routed to BadRows tables instead of failing the load</a:t>
            </a:r>
          </a:p>
        </p:txBody>
      </p:sp>
    </p:spTree>
    <p:extLst>
      <p:ext uri="{BB962C8B-B14F-4D97-AF65-F5344CB8AC3E}">
        <p14:creationId xmlns:p14="http://schemas.microsoft.com/office/powerpoint/2010/main" val="15715455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AC1E893-0F8D-D385-4D7A-B11F66F64C9B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D27510-3CA8-9AF0-AA78-97935BDB71EA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Source System - AdventureWorks-OLTP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AE43F58-5865-A41F-7629-58C1D6A3D8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9687252"/>
              </p:ext>
            </p:extLst>
          </p:nvPr>
        </p:nvGraphicFramePr>
        <p:xfrm>
          <a:off x="762000" y="1270000"/>
          <a:ext cx="8890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33079226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706659798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1273836969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Table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Purpose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Rows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163486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SalesLT.Address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Customer / order addresses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318721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Customer 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407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592847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SalesLT.SalesOrderHeader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Order headers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17,000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54813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SalesLT.SalesOrderDetails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Order line items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277,880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9220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98ABE1A-59A4-EEB1-418F-921560890DA6}"/>
              </a:ext>
            </a:extLst>
          </p:cNvPr>
          <p:cNvSpPr txBox="1"/>
          <p:nvPr/>
        </p:nvSpPr>
        <p:spPr>
          <a:xfrm>
            <a:off x="762000" y="4318000"/>
            <a:ext cx="10668000" cy="107721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Restored from AdventureWorks-OLTP.mdf backup; relational SalesLT schema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Tables carry ModifiedDate - used for incremental extraction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Product data extracted from Product / ProductCategory / ProductDescription / ProductModel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Lookup tables (AddressType, Culture) joined during extraction</a:t>
            </a:r>
          </a:p>
        </p:txBody>
      </p:sp>
    </p:spTree>
    <p:extLst>
      <p:ext uri="{BB962C8B-B14F-4D97-AF65-F5344CB8AC3E}">
        <p14:creationId xmlns:p14="http://schemas.microsoft.com/office/powerpoint/2010/main" val="539006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78527F5-DAA5-DDF9-FFF0-032107EE276A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A71F7-A522-093D-FDF7-84A9A95E3A94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Staging Layer - AdventureWorks-Staging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A6CE754-9235-C7B6-C4CE-2E8E409000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4114299"/>
              </p:ext>
            </p:extLst>
          </p:nvPr>
        </p:nvGraphicFramePr>
        <p:xfrm>
          <a:off x="762000" y="1270000"/>
          <a:ext cx="7874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150229942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493903655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Staging table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Source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346545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dbo.Address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SalesLT.Address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00034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dbo.Customer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SalesLT.Customer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037371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dbo.Customer_Address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SalesLT.CustomerAddress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687581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dbo.Product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SalesLT.Product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074726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dbo.ProductCategory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SalesLT.ProductCategory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325517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dbo.ProductDescription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SalesLT.ProductDescription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780475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dbo.ProductModel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SalesLT.ProductModel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186598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dbo.ProductModel_Description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SalesLT.ProductModelDescription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114868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dbo.SalesOrderHeader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SalesLT.SalesOrderHeader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438716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dbo.SalesOrderDetails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SalesLT.SalesOrderDetails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259932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F2A7C84-6DA7-F681-19B6-517F7169FD15}"/>
              </a:ext>
            </a:extLst>
          </p:cNvPr>
          <p:cNvSpPr txBox="1"/>
          <p:nvPr/>
        </p:nvSpPr>
        <p:spPr>
          <a:xfrm>
            <a:off x="8890000" y="1524000"/>
            <a:ext cx="2794000" cy="18158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Truncate + reload every run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One OLE DB Source per flow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Single cutoff param: ModifiedDate &gt; @LastJobTime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FastLoad bulk inserts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Staging is the join surface for dim/fact builds</a:t>
            </a:r>
          </a:p>
        </p:txBody>
      </p:sp>
    </p:spTree>
    <p:extLst>
      <p:ext uri="{BB962C8B-B14F-4D97-AF65-F5344CB8AC3E}">
        <p14:creationId xmlns:p14="http://schemas.microsoft.com/office/powerpoint/2010/main" val="414892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5A377C0-E330-727C-51D3-341D7BE1E6EC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367C6B-16E7-A3BD-2B2D-3E639ECE273E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Data Warehouse - Star Schema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B84E0D0-94B9-86FB-27C0-ADE36D06B2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6752911"/>
              </p:ext>
            </p:extLst>
          </p:nvPr>
        </p:nvGraphicFramePr>
        <p:xfrm>
          <a:off x="762000" y="1270000"/>
          <a:ext cx="9652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90099180"/>
                    </a:ext>
                  </a:extLst>
                </a:gridCol>
                <a:gridCol w="5842000">
                  <a:extLst>
                    <a:ext uri="{9D8B030D-6E8A-4147-A177-3AD203B41FA5}">
                      <a16:colId xmlns:a16="http://schemas.microsoft.com/office/drawing/2014/main" val="124051125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8598852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Object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Description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Rows loaded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344844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Sales.DimCustomer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Customer attributes + Main Office address (SCD1)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407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1403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Sales.DimProduct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Product + category + model attributes (SCD1)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295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202172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Sales.FactSales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Order line facts with surrogate keys + order/ship dates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277,880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281304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C0526DF-CCF6-569D-8538-083EAEC2A422}"/>
              </a:ext>
            </a:extLst>
          </p:cNvPr>
          <p:cNvSpPr txBox="1"/>
          <p:nvPr/>
        </p:nvSpPr>
        <p:spPr>
          <a:xfrm>
            <a:off x="762000" y="4318000"/>
            <a:ext cx="10668000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Dimension keys: surrogate CustomerKey / ProductKey via identity + lookup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Date keys resolved through DimDate lookups (OrderDate, ShipDate)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Measures: Quantity, UnitPrice, Discount, LineTotal; plus BatchYear/BatchMonth grain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SCD1 updates change existing customer/product rows in place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Foreign keys enforced; load disables/re-enables constraints</a:t>
            </a:r>
          </a:p>
        </p:txBody>
      </p:sp>
    </p:spTree>
    <p:extLst>
      <p:ext uri="{BB962C8B-B14F-4D97-AF65-F5344CB8AC3E}">
        <p14:creationId xmlns:p14="http://schemas.microsoft.com/office/powerpoint/2010/main" val="18253341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9A9860C-A295-8E25-C2D7-B3D7EDB5A9B8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DD8CC9-49A9-BB72-F9B3-5D6A1433111E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SSIS Control Flow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15DAE7-29CE-F71A-1670-6706BDF35B17}"/>
              </a:ext>
            </a:extLst>
          </p:cNvPr>
          <p:cNvSpPr txBox="1"/>
          <p:nvPr/>
        </p:nvSpPr>
        <p:spPr>
          <a:xfrm>
            <a:off x="762000" y="1270000"/>
            <a:ext cx="10668000" cy="304698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lvl="1"/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Initialize (sequential tasks)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Set Current Job Time -&gt; Sync InitialLoad Parameter -&gt; Sync Language Parameter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Read Watermark (returns 1900-01-01 on full load, else last run time)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Prepare DW (truncate fact/dims only when InitialLoad = 1)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Load Staging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Prepare Staging (truncate) -&gt; 10 parallel Stage data flows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Load dimensions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Load DimCustomer (SCD1): derive Name, lookup, update-or-insert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Load DimProduct (SCD1): lookup, update-or-insert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Load FactSales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Source staging SOH+SOD; lookups for customer/product/order/ship dates; bad rows to BadRows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Update Watermark (LastSuccessfulRun = current job time)</a:t>
            </a:r>
          </a:p>
        </p:txBody>
      </p:sp>
    </p:spTree>
    <p:extLst>
      <p:ext uri="{BB962C8B-B14F-4D97-AF65-F5344CB8AC3E}">
        <p14:creationId xmlns:p14="http://schemas.microsoft.com/office/powerpoint/2010/main" val="21822085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D306FE-04B0-A055-4A27-5E39CB8CF825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AB1CBB-C061-A9BA-52FE-8BC06039562E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Full Load vs Incremental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C1F4B9-337C-83BF-D070-E89FB0691F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5348070"/>
              </p:ext>
            </p:extLst>
          </p:nvPr>
        </p:nvGraphicFramePr>
        <p:xfrm>
          <a:off x="762000" y="1270000"/>
          <a:ext cx="10414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723322757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229342991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202383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856208767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Mode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InitialLoad param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Extraction window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DW handling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391734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Full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True (default)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All rows (cutoff = 1900-01-01)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Truncate facts + dims, rebuild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647331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Incremental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Only rows with ModifiedDate &gt; watermark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Append / update only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056672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E93C3CB-FDB1-58A5-5478-5FBA3024D7AF}"/>
              </a:ext>
            </a:extLst>
          </p:cNvPr>
          <p:cNvSpPr txBox="1"/>
          <p:nvPr/>
        </p:nvSpPr>
        <p:spPr>
          <a:xfrm>
            <a:off x="762000" y="3556000"/>
            <a:ext cx="10668000" cy="15696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Watermark table: dbo.Watermark(LastSuccessfulRun)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Full load forces cutoff to 1900-01-01 in Read Watermark -&gt; every row qualifies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Incremental binds the last successful run into the OLE DB Source cutoff parameter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Single-parameter design: WHERE ModifiedDate &gt; @LastJobTime (avoids unreliable multi-param binding)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Package param is baked in at build time; DTExec /SET cannot override it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Incremental run after a full load is a no-op until new source rows arrive (all ModifiedDates are historical)</a:t>
            </a:r>
          </a:p>
        </p:txBody>
      </p:sp>
    </p:spTree>
    <p:extLst>
      <p:ext uri="{BB962C8B-B14F-4D97-AF65-F5344CB8AC3E}">
        <p14:creationId xmlns:p14="http://schemas.microsoft.com/office/powerpoint/2010/main" val="38680987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D6B2B09-4676-F4FB-A855-FAAF0E3A9AF2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C33901-95CA-49C9-5FDE-B7D1F71E5656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Verification - Data Quality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FF52EE4-0C73-8D57-0FA7-B57D22865E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3906519"/>
              </p:ext>
            </p:extLst>
          </p:nvPr>
        </p:nvGraphicFramePr>
        <p:xfrm>
          <a:off x="762000" y="1270000"/>
          <a:ext cx="9906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97792371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4114743019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128020973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Check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Expected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Actual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82052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FactSales rows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= SalesOrderDetails 277,880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277,880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98679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Duplicate SalesOrderDetailID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571888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DimCustomer rows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= distinct customers 407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407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786836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DimProduct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= distinct products 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295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078014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BadRows (FK/date failures)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58623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F1CCA43-D5F5-8488-6E26-604AD1E395D3}"/>
              </a:ext>
            </a:extLst>
          </p:cNvPr>
          <p:cNvSpPr txBox="1"/>
          <p:nvPr/>
        </p:nvSpPr>
        <p:spPr>
          <a:xfrm>
            <a:off x="762000" y="4572000"/>
            <a:ext cx="10668000" cy="107721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Full run exits DTSER_SUCCESS (0); DTExec reports CLEAN_RUN_EXIT=0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Incremental run exits 0 and leaves all row counts unchanged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Watermark advances to the job's run time after each successful run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Debug Log task records InitialLoad flag + cutoff per run for diagnostics</a:t>
            </a:r>
          </a:p>
        </p:txBody>
      </p:sp>
    </p:spTree>
    <p:extLst>
      <p:ext uri="{BB962C8B-B14F-4D97-AF65-F5344CB8AC3E}">
        <p14:creationId xmlns:p14="http://schemas.microsoft.com/office/powerpoint/2010/main" val="1492482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0C28E5F-35ED-3391-76E6-C77FC9ACD129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59E699-8941-120A-F7FF-BB32A7031269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Performance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C06E20-E68C-228F-927F-BFD49C9A3F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1329045"/>
              </p:ext>
            </p:extLst>
          </p:nvPr>
        </p:nvGraphicFramePr>
        <p:xfrm>
          <a:off x="762000" y="1270000"/>
          <a:ext cx="8890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>
                  <a:extLst>
                    <a:ext uri="{9D8B030D-6E8A-4147-A177-3AD203B41FA5}">
                      <a16:colId xmlns:a16="http://schemas.microsoft.com/office/drawing/2014/main" val="3141329537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054673639"/>
                    </a:ext>
                  </a:extLst>
                </a:gridCol>
                <a:gridCol w="4826000">
                  <a:extLst>
                    <a:ext uri="{9D8B030D-6E8A-4147-A177-3AD203B41FA5}">
                      <a16:colId xmlns:a16="http://schemas.microsoft.com/office/drawing/2014/main" val="1955658257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Run mode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Elapsed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Rows moved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993658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Full load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~71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277,880 fact rows + dimensions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65765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Incremental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~6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0 (no new source rows)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892065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E17D5A6-61A2-2699-BFE0-B897C825A31B}"/>
              </a:ext>
            </a:extLst>
          </p:cNvPr>
          <p:cNvSpPr txBox="1"/>
          <p:nvPr/>
        </p:nvSpPr>
        <p:spPr>
          <a:xfrm>
            <a:off x="762000" y="3556000"/>
            <a:ext cx="10668000" cy="107721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Bulk FastLoad into staging and destination tables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Full-cache lookups (295 products, 407 customers, date caches) - validated once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Validation overhead dominates short runs; data flow itself is a few seconds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Runs on the 2025 SSIS runtime (17.0.1000.7); 2016 runtime cannot execute data flows here</a:t>
            </a:r>
          </a:p>
        </p:txBody>
      </p:sp>
    </p:spTree>
    <p:extLst>
      <p:ext uri="{BB962C8B-B14F-4D97-AF65-F5344CB8AC3E}">
        <p14:creationId xmlns:p14="http://schemas.microsoft.com/office/powerpoint/2010/main" val="33829216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1859B2A-3BF8-4B4C-1CDE-85A3AB5789BA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E4C144-4D39-24CD-FD67-3B22DCB65C7F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How to Run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7489DF-0A97-CA16-722B-71654568DF38}"/>
              </a:ext>
            </a:extLst>
          </p:cNvPr>
          <p:cNvSpPr txBox="1"/>
          <p:nvPr/>
        </p:nvSpPr>
        <p:spPr>
          <a:xfrm>
            <a:off x="762000" y="1270000"/>
            <a:ext cx="10668000" cy="255454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lvl="1"/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1.  Restore source: SQL\01_Restore_OLTP.sql (attaches Data\AdventureWorks-OLTP.mdf)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2.  Create schema: SQL\02_Staging_Create.sql + SQL\03_DW_Create.sql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3.  Build the package (full load default):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powershell build_dtsx.ps1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Build for incremental mode:  build_dtsx.ps1 -InitialLoad False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4.  Execute with the 2025 runtime wrapper: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run_clean.bat   -&gt; prints VERBOSE_EXIT / CLEAN_RUN_EXIT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5.  Verify with the query scripts: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SQL\07_OLTP_Query.sql (source) and SQL\08_OLAP_Query.sql (DW analytics)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6.  Reset if needed: SQL\04_Reset_Staging.sql and SQL\05_Reset_DW.sql</a:t>
            </a:r>
          </a:p>
        </p:txBody>
      </p:sp>
    </p:spTree>
    <p:extLst>
      <p:ext uri="{BB962C8B-B14F-4D97-AF65-F5344CB8AC3E}">
        <p14:creationId xmlns:p14="http://schemas.microsoft.com/office/powerpoint/2010/main" val="14529890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5B9D0A8-1297-8A0A-9608-A651A954418E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D356EC-F7D3-DB68-DC47-3AFE4CA9E85C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Deliverables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2DBAA84-7B3A-9C5E-0967-2564B2E001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7324127"/>
              </p:ext>
            </p:extLst>
          </p:nvPr>
        </p:nvGraphicFramePr>
        <p:xfrm>
          <a:off x="762000" y="1270000"/>
          <a:ext cx="10160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978065495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871181512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495527994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Item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Location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Status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47459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AdventureWorks-OLTP backup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Data\AdventureWorks-OLTP.mdf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Restored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560064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Staging + DW schema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SQL\02_Staging_Create.sql, 03_DW_Create.sql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311701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SSIS package DailyETL.dtsx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AdventureWorks_OLAP\DailyETL.dtsx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Done + verified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68279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SSIS project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AdventureWorks_OLAP\AdventureWorks_OLAP.dtproj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347629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Query + reset scripts (01-08)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SQL\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Done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084522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D2BD34D-A8DD-88BA-E41E-D863FACA6CB5}"/>
              </a:ext>
            </a:extLst>
          </p:cNvPr>
          <p:cNvSpPr txBox="1"/>
          <p:nvPr/>
        </p:nvSpPr>
        <p:spPr>
          <a:xfrm>
            <a:off x="762000" y="4826000"/>
            <a:ext cx="10668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This presentation: Docs\AdventureWorks_ETL_Presentation.pptx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All deliverables are re-buildable from build_dtsx.ps1 + SQL scripts</a:t>
            </a:r>
          </a:p>
        </p:txBody>
      </p:sp>
    </p:spTree>
    <p:extLst>
      <p:ext uri="{BB962C8B-B14F-4D97-AF65-F5344CB8AC3E}">
        <p14:creationId xmlns:p14="http://schemas.microsoft.com/office/powerpoint/2010/main" val="3532464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00C2E4A-DB60-5524-EC87-419610764B63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ECBF1F-F4FF-636F-ED2F-D8989770A4BC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Next Steps / Future 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9989DC-3841-B438-C155-410B8437DDC9}"/>
              </a:ext>
            </a:extLst>
          </p:cNvPr>
          <p:cNvSpPr txBox="1"/>
          <p:nvPr/>
        </p:nvSpPr>
        <p:spPr>
          <a:xfrm>
            <a:off x="762000" y="1524000"/>
            <a:ext cx="10668000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SCD Type 2 (history) on dimension attributes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Analysis Services cube over FactSales (data source, DSV, cube, process)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Schedule via SQL Server Agent / ADF instead of manual batch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Alerting and email on failure + bad-rows monitoring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Row-count reconciliation report between source and DW per run</a:t>
            </a:r>
          </a:p>
        </p:txBody>
      </p:sp>
    </p:spTree>
    <p:extLst>
      <p:ext uri="{BB962C8B-B14F-4D97-AF65-F5344CB8AC3E}">
        <p14:creationId xmlns:p14="http://schemas.microsoft.com/office/powerpoint/2010/main" val="25304058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A60F95-B49A-AD30-CE5A-134AFFD5ADE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21E0ABD-6579-9040-AB20-E75B7A4071AB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7AF4F6-16A7-9033-579B-716588820600}"/>
              </a:ext>
            </a:extLst>
          </p:cNvPr>
          <p:cNvSpPr txBox="1"/>
          <p:nvPr/>
        </p:nvSpPr>
        <p:spPr>
          <a:xfrm>
            <a:off x="762000" y="2540000"/>
            <a:ext cx="10668000" cy="8309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4800" b="1">
                <a:solidFill>
                  <a:srgbClr val="FFFFFF"/>
                </a:solidFill>
                <a:latin typeface="Calibri" panose="020F0502020204030204" pitchFamily="34" charset="0"/>
              </a:rPr>
              <a:t>Thank You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73FEB4-B405-22A0-729E-24C663942B27}"/>
              </a:ext>
            </a:extLst>
          </p:cNvPr>
          <p:cNvSpPr txBox="1"/>
          <p:nvPr/>
        </p:nvSpPr>
        <p:spPr>
          <a:xfrm>
            <a:off x="762000" y="3937000"/>
            <a:ext cx="10668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>
                <a:solidFill>
                  <a:srgbClr val="BECDEB"/>
                </a:solidFill>
                <a:latin typeface="Calibri" panose="020F0502020204030204" pitchFamily="34" charset="0"/>
              </a:rPr>
              <a:t>Questions &amp; discussion</a:t>
            </a:r>
          </a:p>
        </p:txBody>
      </p:sp>
    </p:spTree>
    <p:extLst>
      <p:ext uri="{BB962C8B-B14F-4D97-AF65-F5344CB8AC3E}">
        <p14:creationId xmlns:p14="http://schemas.microsoft.com/office/powerpoint/2010/main" val="5153183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1266</Words>
  <Application>Microsoft Office PowerPoint</Application>
  <PresentationFormat>Custom</PresentationFormat>
  <Paragraphs>139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Sayed Gamea</dc:creator>
  <cp:lastModifiedBy>Sayed Gamea</cp:lastModifiedBy>
  <cp:revision>1</cp:revision>
  <dcterms:created xsi:type="dcterms:W3CDTF">2026-08-01T03:55:27Z</dcterms:created>
  <dcterms:modified xsi:type="dcterms:W3CDTF">2026-08-01T03:55:27Z</dcterms:modified>
</cp:coreProperties>
</file>