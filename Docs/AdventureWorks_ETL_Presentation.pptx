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BCF48-58BF-1CF9-80A0-5A7C3A06D6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BDB42D-FA1F-1387-304F-D8F9FB601F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2FF013-3B79-36AA-3577-B347BB581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602EC8-6661-F9C3-217E-5BDEF0665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4759A-CD3C-23C6-B790-6DD00EEF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494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C58CA-B16F-2EB2-2A1A-0B7E7F153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67AAA-CE81-56C7-E3CA-6DF27562F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F894E-AA82-AC2F-7CBB-F23BB3E4C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5EBC5-9DB3-BC23-01EB-917C44DB2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E1389D-6194-1010-AC6F-498A46E8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61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63A0B-0AC1-DD1D-B8F0-C9ACDAAC4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07D4-FA77-A85A-A13C-8DE68D905F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A3FA71-FEF3-F1F8-D84A-28F1B08F2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1606B-5083-1FF0-0910-AEFC6B356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5467C-5875-C22E-37EA-479491935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5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27C56-C17F-5E6D-9C62-906EEBACD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E8DE-115D-C09B-366B-5CB58FA68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2E070F-2EAE-2784-A9C3-8B3B093C41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38661-11D3-F145-8F2F-2804102D8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583CD-6F4A-2650-6CB2-A455FEAC0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EE310-1734-3943-3D6B-CCAE887BD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698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84F3F-547F-7720-928D-DB05DB3F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39411-7DA1-BC53-A2CE-58B177A02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DA7564-C1CA-C526-A423-17F97965C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D0BA65-4D7B-A8C3-9FAB-9A06E1F50C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048A0A-8BA4-6622-13E8-F1B215154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DF2F58-8CA6-9F21-24CF-4442A4FDE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B8BF7-05DC-312E-EDB3-14746B904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6CCDD-EF96-0A37-C731-5B4204C60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0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363B2-3529-2419-67BA-B48D8DD94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C7543E-4B4B-F8ED-7AC3-C9A17770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9A0B8-316B-7D4A-055C-5680A5DB6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8C3CED-1641-7DD2-C5A7-B6E8B1CEC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157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46C40B-97AB-5119-094B-708B401E7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A99AAB-B0FF-B4DA-2055-3FA5CDE4A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D7541-AD20-8C0A-71FF-8887581AA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923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34CEA-7950-8249-43F9-0D9F2327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F8799-77F3-F471-64DA-27757256D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8BAD0-7D2E-ADD9-D552-DE0B23FC62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6ED295-D312-B04D-CFE0-60FF6EE40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E61BB-1F06-9E31-A2D2-487FCD969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8BB6AF-DDA2-F42C-106B-A64D49FC5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006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9660A-2166-0430-71E5-161DC149A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E8F9BB-7E13-CE7F-618D-93DDD42124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CD5052-95A2-C416-649B-E8B40BDC7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917EFC-3569-72E7-281A-1DFC16302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2D8AB9-DE1B-1FE9-F558-1B4F81505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DFAEF9-50B5-B754-B17E-FBDE046EB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029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0EE5A-B5B8-A1E5-09D0-FF84D7930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08DAF0-7DA9-16DE-87DC-A6EF760DA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E73A2-F2A1-C44B-AF6D-FC8683004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518C31-9DCC-48D2-B9BC-D95F2A946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F8E05-316A-C483-255A-0FAA42FA0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065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3C15A3-91A2-BB26-3919-A58BC37067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B15525-0639-0006-6844-E90FE7AC5C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78C5F-EA30-214A-AB56-FE46E845C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3B5A7-F0F2-BFB1-4E23-941152F2E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7E22B6-14C4-6EE8-2699-A412C5679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9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6474BE-1017-8ED5-0091-07DFB3E5B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0DFC6-7175-300C-3493-0087FDFCB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2EAD85-0060-7B8B-3305-C28723F8CA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C9DE57-2506-4C28-8EDA-5571E5021991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C1C69-BEDE-06A6-5A33-EAD73497B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66F23-65A2-3F52-15AB-83A5BB5383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3504B-58D0-4D3A-B128-779D242494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089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B78375-F82A-1927-A659-C001850B841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DBBED3-B72E-C662-723F-90A39643A0AC}"/>
              </a:ext>
            </a:extLst>
          </p:cNvPr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D313A-8A22-79B2-E0CF-5DB8A100B8CF}"/>
              </a:ext>
            </a:extLst>
          </p:cNvPr>
          <p:cNvSpPr txBox="1"/>
          <p:nvPr/>
        </p:nvSpPr>
        <p:spPr>
          <a:xfrm>
            <a:off x="762000" y="1905000"/>
            <a:ext cx="106680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400" b="1">
                <a:solidFill>
                  <a:srgbClr val="FFFFFF"/>
                </a:solidFill>
                <a:latin typeface="Calibri" panose="020F0502020204030204" pitchFamily="34" charset="0"/>
              </a:rPr>
              <a:t>AdventureWorks ETL to Data Warehouse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F81339-12E5-BD25-3244-3E16F19B75A0}"/>
              </a:ext>
            </a:extLst>
          </p:cNvPr>
          <p:cNvSpPr txBox="1"/>
          <p:nvPr/>
        </p:nvSpPr>
        <p:spPr>
          <a:xfrm>
            <a:off x="762000" y="3175000"/>
            <a:ext cx="10668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>
                <a:solidFill>
                  <a:srgbClr val="BECDEB"/>
                </a:solidFill>
                <a:latin typeface="Calibri" panose="020F0502020204030204" pitchFamily="34" charset="0"/>
              </a:rPr>
              <a:t>SSIS Daily ETL Pipeline: OLTP  -&gt;  Staging  -&gt;  Star-Schema DW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7A64EB-288E-AF2E-C06F-8420BB57DCD6}"/>
              </a:ext>
            </a:extLst>
          </p:cNvPr>
          <p:cNvSpPr txBox="1"/>
          <p:nvPr/>
        </p:nvSpPr>
        <p:spPr>
          <a:xfrm>
            <a:off x="762000" y="48260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A0B4D7"/>
                </a:solidFill>
                <a:latin typeface="Calibri" panose="020F0502020204030204" pitchFamily="34" charset="0"/>
              </a:rPr>
              <a:t>Project: AdventureWorks_OLAP   |   Date: August 2026</a:t>
            </a:r>
          </a:p>
        </p:txBody>
      </p:sp>
    </p:spTree>
    <p:extLst>
      <p:ext uri="{BB962C8B-B14F-4D97-AF65-F5344CB8AC3E}">
        <p14:creationId xmlns:p14="http://schemas.microsoft.com/office/powerpoint/2010/main" val="3351404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AB13483-4FC1-B88A-D76F-5533500ADD04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28C943-DF88-8FCE-E91F-0385592FBD9E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308B5-F2FB-1F40-E7F1-12BCAD3C76DC}"/>
              </a:ext>
            </a:extLst>
          </p:cNvPr>
          <p:cNvSpPr txBox="1"/>
          <p:nvPr/>
        </p:nvSpPr>
        <p:spPr>
          <a:xfrm>
            <a:off x="762000" y="1270000"/>
            <a:ext cx="10668000" cy="280076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1.  Project overview &amp; goals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2.  Architecture: OLTP / Staging / DW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3.  Source system - AdventureWorks-OLTP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4.  Staging layer (10 tables)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5.  Data warehouse - star schema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6.  SSIS ETL control flow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7.  Full load vs incremental (watermark)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8.  Data quality &amp; verification results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9.  Performance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10. How to run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11. Deliverables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2701672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F89BA2B-24EC-0FB2-7619-7AEF3EBC0DFC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0F472-CE4D-35F8-4004-9EC079C1294B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D318B-F8A6-3FC0-A02B-2137D4725416}"/>
              </a:ext>
            </a:extLst>
          </p:cNvPr>
          <p:cNvSpPr txBox="1"/>
          <p:nvPr/>
        </p:nvSpPr>
        <p:spPr>
          <a:xfrm>
            <a:off x="762000" y="1069987"/>
            <a:ext cx="3048000" cy="964367"/>
          </a:xfrm>
          <a:prstGeom prst="rect">
            <a:avLst/>
          </a:prstGeom>
          <a:solidFill>
            <a:srgbClr val="F2F2F2"/>
          </a:solidFill>
        </p:spPr>
        <p:txBody>
          <a:bodyPr vert="horz" lIns="76200" tIns="50800" rIns="76200" bIns="50800" rtlCol="0" anchor="ctr">
            <a:spAutoFit/>
          </a:bodyPr>
          <a:lstStyle/>
          <a:p>
            <a:pPr algn="ctr"/>
            <a:r>
              <a:rPr lang="en-US" sz="1400">
                <a:solidFill>
                  <a:srgbClr val="1F3864"/>
                </a:solidFill>
                <a:latin typeface="Calibri" panose="020F0502020204030204" pitchFamily="34" charset="0"/>
              </a:rPr>
              <a:t>AdventureWorks-OLTP
(SalesLT source)
450 Address / 412 Customer
22,000 Orders / 353,505 OrderDetails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EA6484-A4DF-AEF1-0209-F6E0820BE64B}"/>
              </a:ext>
            </a:extLst>
          </p:cNvPr>
          <p:cNvSpPr txBox="1"/>
          <p:nvPr/>
        </p:nvSpPr>
        <p:spPr>
          <a:xfrm>
            <a:off x="4572000" y="1177710"/>
            <a:ext cx="3048000" cy="748923"/>
          </a:xfrm>
          <a:prstGeom prst="rect">
            <a:avLst/>
          </a:prstGeom>
          <a:solidFill>
            <a:srgbClr val="F2F2F2"/>
          </a:solidFill>
        </p:spPr>
        <p:txBody>
          <a:bodyPr vert="horz" lIns="76200" tIns="50800" rIns="76200" bIns="50800" rtlCol="0" anchor="ctr">
            <a:spAutoFit/>
          </a:bodyPr>
          <a:lstStyle/>
          <a:p>
            <a:pPr algn="ctr"/>
            <a:r>
              <a:rPr lang="en-US" sz="1400">
                <a:solidFill>
                  <a:srgbClr val="1F3864"/>
                </a:solidFill>
                <a:latin typeface="Calibri" panose="020F0502020204030204" pitchFamily="34" charset="0"/>
              </a:rPr>
              <a:t>AdventureWorks-Staging
10 mirror tables
truncate + reload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B22198-5F88-5199-D9BA-F43A1A2540A7}"/>
              </a:ext>
            </a:extLst>
          </p:cNvPr>
          <p:cNvSpPr txBox="1"/>
          <p:nvPr/>
        </p:nvSpPr>
        <p:spPr>
          <a:xfrm>
            <a:off x="8382000" y="1177710"/>
            <a:ext cx="3048000" cy="748923"/>
          </a:xfrm>
          <a:prstGeom prst="rect">
            <a:avLst/>
          </a:prstGeom>
          <a:solidFill>
            <a:srgbClr val="1F3864"/>
          </a:solidFill>
        </p:spPr>
        <p:txBody>
          <a:bodyPr vert="horz" lIns="76200" tIns="50800" rIns="76200" bIns="50800" rtlCol="0" anchor="ctr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Calibri" panose="020F0502020204030204" pitchFamily="34" charset="0"/>
              </a:rPr>
              <a:t>AdventureWorks-DW
Star schema
FactSales + 2 dimensions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FD3D460-FCB9-DB33-21BF-ECB565B3171A}"/>
              </a:ext>
            </a:extLst>
          </p:cNvPr>
          <p:cNvSpPr/>
          <p:nvPr/>
        </p:nvSpPr>
        <p:spPr>
          <a:xfrm>
            <a:off x="3873500" y="2032000"/>
            <a:ext cx="635000" cy="254000"/>
          </a:xfrm>
          <a:prstGeom prst="rightArrow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84A60FA-9BD4-6C4E-78D5-C2947950798C}"/>
              </a:ext>
            </a:extLst>
          </p:cNvPr>
          <p:cNvSpPr/>
          <p:nvPr/>
        </p:nvSpPr>
        <p:spPr>
          <a:xfrm>
            <a:off x="7683500" y="2032000"/>
            <a:ext cx="635000" cy="254000"/>
          </a:xfrm>
          <a:prstGeom prst="rightArrow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7DBDA-B62F-336A-90AA-E8D61B786F97}"/>
              </a:ext>
            </a:extLst>
          </p:cNvPr>
          <p:cNvSpPr txBox="1"/>
          <p:nvPr/>
        </p:nvSpPr>
        <p:spPr>
          <a:xfrm>
            <a:off x="2540000" y="3323553"/>
            <a:ext cx="7112000" cy="318036"/>
          </a:xfrm>
          <a:prstGeom prst="rect">
            <a:avLst/>
          </a:prstGeom>
          <a:solidFill>
            <a:srgbClr val="ED7D31"/>
          </a:solidFill>
        </p:spPr>
        <p:txBody>
          <a:bodyPr vert="horz" lIns="76200" tIns="50800" rIns="76200" bIns="50800" rtlCol="0" anchor="ctr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Calibri" panose="020F0502020204030204" pitchFamily="34" charset="0"/>
              </a:rPr>
              <a:t>SSIS package: Load DW Pipeline.dtsx  (SSIS 2016 format, run on 2025 runtime)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160348-F355-216E-CD41-CEA7ED0581F1}"/>
              </a:ext>
            </a:extLst>
          </p:cNvPr>
          <p:cNvSpPr txBox="1"/>
          <p:nvPr/>
        </p:nvSpPr>
        <p:spPr>
          <a:xfrm>
            <a:off x="762000" y="4191000"/>
            <a:ext cx="10668000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ETL: extract from SalesLT -&gt; load staging -&gt; build dimensions (customer SCD1, product SCD2) -&gt; load facts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Change tracking: LastSuccessfulRun watermark table in the DW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InitialLoad + CurrentJobTime + Language package parameters control each run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Rejected rows routed to BadRows tables instead of failing the load</a:t>
            </a:r>
          </a:p>
        </p:txBody>
      </p:sp>
    </p:spTree>
    <p:extLst>
      <p:ext uri="{BB962C8B-B14F-4D97-AF65-F5344CB8AC3E}">
        <p14:creationId xmlns:p14="http://schemas.microsoft.com/office/powerpoint/2010/main" val="4117913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19D3FFD-4D95-FD1F-042E-020D97109E41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563316-D7E8-0333-9867-C3A42A1477E8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Source System - AdventureWorks-OLTP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B7BA938-C03A-A906-7FEF-147978514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913816"/>
              </p:ext>
            </p:extLst>
          </p:nvPr>
        </p:nvGraphicFramePr>
        <p:xfrm>
          <a:off x="762000" y="1270000"/>
          <a:ext cx="8890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82877191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564062066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3984372809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Table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Purpose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Rows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97783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Customer / order addresses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767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Customer 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412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92873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SalesLT.SalesOrderHeader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Order headers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22,000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34527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SalesLT.SalesOrderDetails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Order line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353,505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48236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09A5B72-3968-7C5A-8937-013F28C33CD3}"/>
              </a:ext>
            </a:extLst>
          </p:cNvPr>
          <p:cNvSpPr txBox="1"/>
          <p:nvPr/>
        </p:nvSpPr>
        <p:spPr>
          <a:xfrm>
            <a:off x="762000" y="4318000"/>
            <a:ext cx="10668000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Restored from AdventureWorks-OLTP.mdf backup; relational SalesLT schema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Tables carry ModifiedDate - used for incremental extraction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Product data extracted from Product / ProductCategory / ProductDescription / ProductModel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V2 simulation added +5,000 orders / +75,625 details / +5 products / +5 customers after Run I</a:t>
            </a:r>
          </a:p>
        </p:txBody>
      </p:sp>
    </p:spTree>
    <p:extLst>
      <p:ext uri="{BB962C8B-B14F-4D97-AF65-F5344CB8AC3E}">
        <p14:creationId xmlns:p14="http://schemas.microsoft.com/office/powerpoint/2010/main" val="2009857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1F1F89B-C201-B8FD-4EA6-B6444A525325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957017-8865-91F8-F707-5D614491F5CB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Staging Layer - AdventureWorks-Staging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5B949D-46C3-FBD9-36E0-1BB8EEEEAA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435789"/>
              </p:ext>
            </p:extLst>
          </p:nvPr>
        </p:nvGraphicFramePr>
        <p:xfrm>
          <a:off x="762000" y="1270000"/>
          <a:ext cx="7874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390798332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40848159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Staging table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Source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30178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322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SalesLT.Customer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9098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dbo.Customer_Address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SalesLT.CustomerAddress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86424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66426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41505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555346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dbo.ProductModel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SalesLT.ProductModel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57488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dbo.ProductModel_Description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SalesLT.ProductModelDescription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243363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dbo.SalesOrderHeader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SalesLT.SalesOrderHeader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30279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dbo.SalesOrderDetails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SalesLT.SalesOrderDetails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713926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776475D-F766-FBD8-F018-6D644E742847}"/>
              </a:ext>
            </a:extLst>
          </p:cNvPr>
          <p:cNvSpPr txBox="1"/>
          <p:nvPr/>
        </p:nvSpPr>
        <p:spPr>
          <a:xfrm>
            <a:off x="8890000" y="1524000"/>
            <a:ext cx="2794000" cy="18158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Truncate + reload every run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One OLE DB Source per flow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Single cutoff param: ModifiedDate &gt; @LastJobTime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FastLoad bulk inserts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Staging is the join surface for dim/fact builds</a:t>
            </a:r>
          </a:p>
        </p:txBody>
      </p:sp>
    </p:spTree>
    <p:extLst>
      <p:ext uri="{BB962C8B-B14F-4D97-AF65-F5344CB8AC3E}">
        <p14:creationId xmlns:p14="http://schemas.microsoft.com/office/powerpoint/2010/main" val="2058578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B4D777D-5B13-49B9-A573-8039C90C5FF5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DAFF01-DFF3-E42A-4A02-9EAA994F6420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Data Warehouse - Star Schema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0F3AC-329F-86FB-F624-6FBA38E36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065298"/>
              </p:ext>
            </p:extLst>
          </p:nvPr>
        </p:nvGraphicFramePr>
        <p:xfrm>
          <a:off x="762000" y="1270000"/>
          <a:ext cx="9652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1260929892"/>
                    </a:ext>
                  </a:extLst>
                </a:gridCol>
                <a:gridCol w="5842000">
                  <a:extLst>
                    <a:ext uri="{9D8B030D-6E8A-4147-A177-3AD203B41FA5}">
                      <a16:colId xmlns:a16="http://schemas.microsoft.com/office/drawing/2014/main" val="417873297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75075508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Object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Description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Rows loaded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42055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Sales.DimCustomer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Customer attributes + Main Office address (SCD1)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412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54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Sales.DimProduct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Product + category + model attributes; Cost/Price history (SCD2)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302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7246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Sales.FactSales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Order line facts with surrogate keys + order/ship dates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353,505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581655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F48B0C2-9763-B49D-C791-71C3082C4231}"/>
              </a:ext>
            </a:extLst>
          </p:cNvPr>
          <p:cNvSpPr txBox="1"/>
          <p:nvPr/>
        </p:nvSpPr>
        <p:spPr>
          <a:xfrm>
            <a:off x="762000" y="4318000"/>
            <a:ext cx="10668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Dimension keys: surrogate CustomerKey / ProductKey via identity + lookup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Date keys resolved through DimDate lookups (OrderDate, ShipDate)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Measures: Quantity, UnitPrice, Discount, LineTotal; plus BatchYear/BatchMonth grain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SCD1 updates change existing customer rows in place; SellEndDate overwritten across all product variants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SCD2 expires the current version and inserts a new one when Cost/Price changes (EffectiveStart/EffectiveEndDate)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Foreign keys enforced; load disables/re-enables constraints (InitialLoad)</a:t>
            </a:r>
          </a:p>
        </p:txBody>
      </p:sp>
    </p:spTree>
    <p:extLst>
      <p:ext uri="{BB962C8B-B14F-4D97-AF65-F5344CB8AC3E}">
        <p14:creationId xmlns:p14="http://schemas.microsoft.com/office/powerpoint/2010/main" val="3979165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8D8AEFD-2570-6F6B-DD3D-9E978027B275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1973EA-FD37-BDA6-4216-9C2E5DE5909D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SSIS Control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D88785-2173-8C39-29A6-8FC09D728FC7}"/>
              </a:ext>
            </a:extLst>
          </p:cNvPr>
          <p:cNvSpPr txBox="1"/>
          <p:nvPr/>
        </p:nvSpPr>
        <p:spPr>
          <a:xfrm>
            <a:off x="762000" y="1270000"/>
            <a:ext cx="10668000" cy="35394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lvl="1"/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Initialize (sequential tasks)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Set Current Job Time (CurrentJobTime param; GETDATE fallback) -&gt; Sync InitialLoad -&gt; Sync Language -&gt; Read Watermark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Read Watermark (returns 1900-01-01 on full load, else last run time)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Prepare DW (truncate fact/dims only when InitialLoad = 1)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Staging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Prepare Staging (truncate) -&gt; 10 parallel Stage data flows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dimensions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DimCustomer (SCD1): derive Name, lookup, update-or-insert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DimProduct (SCD2): lookup, update-or-insert; expire + insert on Cost/Price change; SellEndDate overwrite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Load FactSales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Source staging SOH+SOD where OrderDate &gt; last watermark AND &lt;= CurrentJobTime; lookups for customer/product/order/ship dates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Update Watermark (LastSuccessfulRun = CurrentJobTime)</a:t>
            </a:r>
          </a:p>
        </p:txBody>
      </p:sp>
    </p:spTree>
    <p:extLst>
      <p:ext uri="{BB962C8B-B14F-4D97-AF65-F5344CB8AC3E}">
        <p14:creationId xmlns:p14="http://schemas.microsoft.com/office/powerpoint/2010/main" val="3582961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5613E6C-EEF6-3B7C-12FE-9879128B975B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0306F1-259B-2856-9604-5F351BF5B259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Full Load vs Incremental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4096D70-6C81-5807-D68B-013C7DC84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663459"/>
              </p:ext>
            </p:extLst>
          </p:nvPr>
        </p:nvGraphicFramePr>
        <p:xfrm>
          <a:off x="762000" y="1270000"/>
          <a:ext cx="10668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6758022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4142359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0494903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156444565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Mode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InitialLoad param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Extraction window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DW handling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42717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Full (Run I)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True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All rows; watermark seeded 1900-01-01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Truncate facts + dims, rebuild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68277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Incremental (Run II)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OrderDate &gt; watermark AND &lt;= CurrentJobTime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Append / update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6252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4A11BC2-EB88-DC4E-511A-933DEDFD0587}"/>
              </a:ext>
            </a:extLst>
          </p:cNvPr>
          <p:cNvSpPr txBox="1"/>
          <p:nvPr/>
        </p:nvSpPr>
        <p:spPr>
          <a:xfrm>
            <a:off x="762000" y="3683000"/>
            <a:ext cx="10668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Watermark table: dbo.Watermark(LastSuccessfulRun)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CurrentJobTime package parameter (DateTime) = the run window end, set per run (spec: set manually each run)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Fact source: WHERE SOH.OrderDate &gt; @LastJobTime AND SOH.OrderDate &lt;= @CurrentJobTime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Watermark is updated with CurrentJobTime after a successful run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Demo: Run I CurrentJobTime=12-30-2022 loads OLTP V1; Run II CurrentJobTime=12-30-2026 appends V1+V2</a:t>
            </a:r>
            <a:b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 b="1">
                <a:solidFill>
                  <a:srgbClr val="1F3864"/>
                </a:solidFill>
                <a:latin typeface="Calibri" panose="020F0502020204030204" pitchFamily="34" charset="0"/>
              </a:rPr>
              <a:t>DTExec /File cannot override package parameters -&gt; defaults baked at build time via build_dtsx.ps1</a:t>
            </a:r>
          </a:p>
        </p:txBody>
      </p:sp>
    </p:spTree>
    <p:extLst>
      <p:ext uri="{BB962C8B-B14F-4D97-AF65-F5344CB8AC3E}">
        <p14:creationId xmlns:p14="http://schemas.microsoft.com/office/powerpoint/2010/main" val="1133207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2D0BDB-8B8A-FEF4-49D1-5D6981D4AE34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4B1D29-9EBD-B763-7A82-D8197799368D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Verification - Data Quality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258780-F9DF-EDFD-91B6-18E4AC84C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147073"/>
              </p:ext>
            </p:extLst>
          </p:nvPr>
        </p:nvGraphicFramePr>
        <p:xfrm>
          <a:off x="762000" y="1270000"/>
          <a:ext cx="10160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80480225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9201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12255664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Check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Expected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Actual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93988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FactSales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= SalesOrderDetails 353,505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353,505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427813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Duplicate SalesOrderDetailID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06271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DimCustomer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= distinct customers 412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412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16044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DimProduct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= 295 base + 5 new + 2 SCD2 variants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302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610549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BadRows (FK/date failures)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9853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Watermark after Run I / Run 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12-30-2022 / 12-30-2026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2022-12-30 / 2026-12-30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903942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254581-7C0C-A5EF-1B91-82D51B16EA1A}"/>
              </a:ext>
            </a:extLst>
          </p:cNvPr>
          <p:cNvSpPr txBox="1"/>
          <p:nvPr/>
        </p:nvSpPr>
        <p:spPr>
          <a:xfrm>
            <a:off x="762000" y="4826000"/>
            <a:ext cx="10668000" cy="18158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Run I (InitialLoad=True, CurrentJobTime=12-30-2022): exit 0, full rebuild, 277,880 fact rows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V2 simulation after Run I: +5,000 orders / +75,625 details / +5 products / +5 customers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Run II (InitialLoad=False, CurrentJobTime=12-30-2026): exit 0, incremental load, +75,625 fact rows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SCD2: products 680/706 got new variants (+10% Cost/Price) on 2026-12-30; 707/708 SellEndDate=2024-06-30 set on existing variant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OLTP vs OLAP queries: 842/842 aggregation rows identical, 0 mismatches (all 7 metrics per row)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Debug Log task records InitialLoad flag + cutoff per run for diagnostics</a:t>
            </a:r>
          </a:p>
        </p:txBody>
      </p:sp>
    </p:spTree>
    <p:extLst>
      <p:ext uri="{BB962C8B-B14F-4D97-AF65-F5344CB8AC3E}">
        <p14:creationId xmlns:p14="http://schemas.microsoft.com/office/powerpoint/2010/main" val="4163304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A66BDFE-A1E4-EB70-D339-7BF09551B69F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B05737-950E-7C40-B9E4-EF3ABF961789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Performance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E5120BC-66EE-34B0-9C52-B4A910BEDA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810032"/>
              </p:ext>
            </p:extLst>
          </p:nvPr>
        </p:nvGraphicFramePr>
        <p:xfrm>
          <a:off x="762000" y="1270000"/>
          <a:ext cx="9144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199683112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779193076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1899799987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Pipeline run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Elapsed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Rows moved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17914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Full (Run I, 12-30-2022)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40.8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277,880 fact rows + dimensions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693485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Incremental (Run II, 12-30-2026)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10.8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+75,625 fact rows + 7 dim rows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427046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F6B8E25-95C5-6207-5A76-1FD4E3B088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97221"/>
              </p:ext>
            </p:extLst>
          </p:nvPr>
        </p:nvGraphicFramePr>
        <p:xfrm>
          <a:off x="762000" y="3048000"/>
          <a:ext cx="9652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42617788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08374939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576227949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719239365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Company query (SET STATISTICS TIME ON)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Rows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CPU ms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Elapsed ms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6008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OLTP Query (source system)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842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5,471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2,732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84387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OLAP Query (DW, warm)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1,079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1,825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87223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B47474D-054A-5F7E-647D-9E4C18815C75}"/>
              </a:ext>
            </a:extLst>
          </p:cNvPr>
          <p:cNvSpPr txBox="1"/>
          <p:nvPr/>
        </p:nvSpPr>
        <p:spPr>
          <a:xfrm>
            <a:off x="762000" y="5334000"/>
            <a:ext cx="10668000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OLAP returns identical 842 aggregation rows; CPU ~5x lower than querying OLTP directly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Bulk FastLoad into staging and destination tables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Full-cache lookups (302 products, 412 customers, date caches) - validated once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Runs on the 2025 SSIS runtime (17.0.1000.7); 2016 runtime cannot execute data flows here</a:t>
            </a:r>
          </a:p>
        </p:txBody>
      </p:sp>
    </p:spTree>
    <p:extLst>
      <p:ext uri="{BB962C8B-B14F-4D97-AF65-F5344CB8AC3E}">
        <p14:creationId xmlns:p14="http://schemas.microsoft.com/office/powerpoint/2010/main" val="22038195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F55947B-7CD4-CC48-5A4E-4604BE3F50EF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0F44A8-8D91-8265-71B9-DF5156606EF9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How to Run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9B3918-04C4-CF75-8345-655AEC9F54C9}"/>
              </a:ext>
            </a:extLst>
          </p:cNvPr>
          <p:cNvSpPr txBox="1"/>
          <p:nvPr/>
        </p:nvSpPr>
        <p:spPr>
          <a:xfrm>
            <a:off x="762000" y="1270000"/>
            <a:ext cx="10668000" cy="25545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lvl="1"/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1.  Restore source: SQL\01_Restore_OLTP.sql (attaches Data\AdventureWorks-OLTP.mdf)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2.  Create schema: SQL\02_Staging_Create.sql + SQL\03_DW_Create.sql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3.  Build the package (full load default):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powershell build_dtsx.ps1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Build for incremental mode:  build_dtsx.ps1 -InitialLoad False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4.  Execute with the 2025 runtime wrapper: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run_clean.bat   -&gt; prints VERBOSE_EXIT / CLEAN_RUN_EXIT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5.  Verify with the query scripts: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SQL\07_OLTP_Query.sql (source) and SQL\08_OLAP_Query.sql (DW analytics)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6.  Reset if needed: SQL\04_Reset_Staging.sql and SQL\05_Reset_DW.sql</a:t>
            </a:r>
          </a:p>
        </p:txBody>
      </p:sp>
    </p:spTree>
    <p:extLst>
      <p:ext uri="{BB962C8B-B14F-4D97-AF65-F5344CB8AC3E}">
        <p14:creationId xmlns:p14="http://schemas.microsoft.com/office/powerpoint/2010/main" val="213657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C6CF6A1-9C1D-B7CD-D0A5-AF1DF065E6D5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9A0F06-1C49-64EE-87FC-487EB7A35B9A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Deliverables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54F320-4BB7-D382-0FFE-32A37BA9DC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27079"/>
              </p:ext>
            </p:extLst>
          </p:nvPr>
        </p:nvGraphicFramePr>
        <p:xfrm>
          <a:off x="762000" y="1270000"/>
          <a:ext cx="10668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325588498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3458950605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435273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Item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Location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Status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886099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AdventureWorks-OLTP backup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Data\AdventureWorks-OLTP.mdf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Restored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89087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Staging + DW schema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SQL\02_Staging_Create.sql, 03_DW_Create.sql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61737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SSIS package Load DW Pipeline.dtsx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AdventureWorks_OLAP\Load DW Pipeline.dtsx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Done + verified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249602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SSIS 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AdventureWorks_OLAP\AdventureWorks_OLAP.dtproj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92148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DW full backup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Docs\AdventureWorks-DW.bak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Done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533072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Submission 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Sayed_Gamea_ejada.zip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F3864"/>
                          </a:solidFill>
                          <a:latin typeface="Calibri" panose="020F0502020204030204" pitchFamily="34" charset="0"/>
                        </a:rPr>
                        <a:t>Assembled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0734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0C5FA8-A002-40EA-B43D-2673C151C707}"/>
              </a:ext>
            </a:extLst>
          </p:cNvPr>
          <p:cNvSpPr txBox="1"/>
          <p:nvPr/>
        </p:nvSpPr>
        <p:spPr>
          <a:xfrm>
            <a:off x="762000" y="5080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This presentation: Docs\AdventureWorks_ETL_Presentation.pptx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All deliverables are re-buildable from build_dtsx.ps1 + SQL scripts</a:t>
            </a:r>
          </a:p>
        </p:txBody>
      </p:sp>
    </p:spTree>
    <p:extLst>
      <p:ext uri="{BB962C8B-B14F-4D97-AF65-F5344CB8AC3E}">
        <p14:creationId xmlns:p14="http://schemas.microsoft.com/office/powerpoint/2010/main" val="3421818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69269BE-61D4-2F67-11A7-0C2E9CCDB750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ound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8BE057-FA06-88F6-731C-A5F60BFA781A}"/>
              </a:ext>
            </a:extLst>
          </p:cNvPr>
          <p:cNvSpPr txBox="1"/>
          <p:nvPr/>
        </p:nvSpPr>
        <p:spPr>
          <a:xfrm>
            <a:off x="508000" y="304800"/>
            <a:ext cx="11176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1F3864"/>
                </a:solidFill>
                <a:latin typeface="Calibri" panose="020F0502020204030204" pitchFamily="34" charset="0"/>
              </a:rPr>
              <a:t>Next Steps / Future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FEDF3-0678-E410-D111-288088E03540}"/>
              </a:ext>
            </a:extLst>
          </p:cNvPr>
          <p:cNvSpPr txBox="1"/>
          <p:nvPr/>
        </p:nvSpPr>
        <p:spPr>
          <a:xfrm>
            <a:off x="762000" y="1524000"/>
            <a:ext cx="10668000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SCD2 history on remaining dimensions (e.g., DimCustomer)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Analysis Services cube over FactSales (data source, DSV, cube, process)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Schedule via SQL Server Agent / ADF instead of manual batch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Alerting and email on failure + bad-rows monitoring</a:t>
            </a:r>
            <a:b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</a:br>
            <a:r>
              <a:rPr lang="en-US" sz="1600">
                <a:solidFill>
                  <a:srgbClr val="1F3864"/>
                </a:solidFill>
                <a:latin typeface="Calibri" panose="020F0502020204030204" pitchFamily="34" charset="0"/>
              </a:rPr>
              <a:t>Row-count reconciliation report between source and DW per run</a:t>
            </a:r>
          </a:p>
        </p:txBody>
      </p:sp>
    </p:spTree>
    <p:extLst>
      <p:ext uri="{BB962C8B-B14F-4D97-AF65-F5344CB8AC3E}">
        <p14:creationId xmlns:p14="http://schemas.microsoft.com/office/powerpoint/2010/main" val="1226875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EB9ADF-3047-7948-0A75-464BD06F9B8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0BB6B0-4E5D-CD22-37A3-6EAF84E2C744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ED7D3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78E0F-0615-A708-5F40-422347498B5C}"/>
              </a:ext>
            </a:extLst>
          </p:cNvPr>
          <p:cNvSpPr txBox="1"/>
          <p:nvPr/>
        </p:nvSpPr>
        <p:spPr>
          <a:xfrm>
            <a:off x="762000" y="2540000"/>
            <a:ext cx="106680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Calibri" panose="020F0502020204030204" pitchFamily="34" charset="0"/>
              </a:rPr>
              <a:t>Thank You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523B5D-6533-6EEF-4084-F1F0D18870F3}"/>
              </a:ext>
            </a:extLst>
          </p:cNvPr>
          <p:cNvSpPr txBox="1"/>
          <p:nvPr/>
        </p:nvSpPr>
        <p:spPr>
          <a:xfrm>
            <a:off x="762000" y="3937000"/>
            <a:ext cx="10668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>
                <a:solidFill>
                  <a:srgbClr val="BECDEB"/>
                </a:solidFill>
                <a:latin typeface="Calibri" panose="020F0502020204030204" pitchFamily="34" charset="0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422642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1505</Words>
  <Application>Microsoft Office PowerPoint</Application>
  <PresentationFormat>Custom</PresentationFormat>
  <Paragraphs>157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Sayed Gamea</dc:creator>
  <cp:lastModifiedBy>Sayed Gamea</cp:lastModifiedBy>
  <cp:revision>1</cp:revision>
  <dcterms:created xsi:type="dcterms:W3CDTF">2026-08-02T03:50:05Z</dcterms:created>
  <dcterms:modified xsi:type="dcterms:W3CDTF">2026-08-02T03:50:05Z</dcterms:modified>
</cp:coreProperties>
</file>